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341" r:id="rId3"/>
    <p:sldId id="309" r:id="rId5"/>
    <p:sldId id="363" r:id="rId6"/>
    <p:sldId id="382" r:id="rId7"/>
    <p:sldId id="383" r:id="rId8"/>
    <p:sldId id="384" r:id="rId9"/>
    <p:sldId id="385" r:id="rId10"/>
    <p:sldId id="386" r:id="rId11"/>
    <p:sldId id="387" r:id="rId12"/>
    <p:sldId id="388" r:id="rId13"/>
    <p:sldId id="389" r:id="rId14"/>
    <p:sldId id="390" r:id="rId15"/>
    <p:sldId id="391" r:id="rId16"/>
    <p:sldId id="392" r:id="rId17"/>
    <p:sldId id="393" r:id="rId18"/>
    <p:sldId id="394" r:id="rId19"/>
    <p:sldId id="395" r:id="rId20"/>
    <p:sldId id="396" r:id="rId21"/>
    <p:sldId id="397" r:id="rId22"/>
    <p:sldId id="398" r:id="rId23"/>
    <p:sldId id="399" r:id="rId24"/>
    <p:sldId id="400" r:id="rId25"/>
    <p:sldId id="401" r:id="rId26"/>
    <p:sldId id="402" r:id="rId27"/>
    <p:sldId id="403" r:id="rId28"/>
    <p:sldId id="404" r:id="rId29"/>
    <p:sldId id="405" r:id="rId3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4563" autoAdjust="0"/>
  </p:normalViewPr>
  <p:slideViewPr>
    <p:cSldViewPr>
      <p:cViewPr>
        <p:scale>
          <a:sx n="75" d="100"/>
          <a:sy n="75" d="100"/>
        </p:scale>
        <p:origin x="-1248" y="108"/>
      </p:cViewPr>
      <p:guideLst>
        <p:guide orient="horz" pos="2160"/>
        <p:guide pos="28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861AB9-842D-4A8E-91AC-36729E09A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12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12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717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717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53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53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331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331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945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717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53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53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741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741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EA7FD-81C3-4654-BCFB-39DB0308240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extBox 22"/>
          <p:cNvSpPr txBox="1"/>
          <p:nvPr/>
        </p:nvSpPr>
        <p:spPr>
          <a:xfrm>
            <a:off x="2440940" y="148908"/>
            <a:ext cx="4110038" cy="52197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采购管理</a:t>
            </a:r>
            <a:endParaRPr kumimoji="0" lang="zh-CN" altLang="en-US" sz="2800" b="1" kern="1200" cap="none" spc="0" normalizeH="0" baseline="0" noProof="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4850"/>
            <a:ext cx="9144000" cy="412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09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-1587"/>
            <a:ext cx="189865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6" name="文本框 1"/>
          <p:cNvSpPr txBox="1"/>
          <p:nvPr/>
        </p:nvSpPr>
        <p:spPr>
          <a:xfrm>
            <a:off x="120650" y="766445"/>
            <a:ext cx="8580438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800" b="1" noProof="0" dirty="0">
                <a:solidFill>
                  <a:schemeClr val="tx1"/>
                </a:solidFill>
                <a:sym typeface="+mn-ea"/>
              </a:rPr>
              <a:t>采购</a:t>
            </a:r>
            <a:r>
              <a:rPr lang="zh-CN" altLang="en-US" sz="2800" b="1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rPr>
              <a:t>管理概述：</a:t>
            </a:r>
            <a:endParaRPr lang="zh-CN" altLang="en-US" sz="2800" b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525" y="1377315"/>
            <a:ext cx="9135110" cy="41541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400" dirty="0">
                <a:sym typeface="+mn-ea"/>
              </a:rPr>
              <a:t>采购管理系统：考虑到企业中个性化管理，提供了采购主数据（供应商、物料等）的自定义单据、报表灵活的系统参数设置等多种自定义功能，从而达到企业标准化流程，以满足企业的个性化需求。</a:t>
            </a:r>
            <a:endParaRPr lang="zh-CN" altLang="en-US" sz="2400" dirty="0">
              <a:sym typeface="+mn-ea"/>
            </a:endParaRPr>
          </a:p>
          <a:p>
            <a:pPr eaLnBrk="0" hangingPunct="0">
              <a:buFont typeface="Arial" panose="020B0604020202020204" pitchFamily="34" charset="0"/>
              <a:buNone/>
            </a:pPr>
            <a:endParaRPr lang="zh-CN" altLang="en-US" sz="2400" dirty="0">
              <a:sym typeface="+mn-ea"/>
            </a:endParaRPr>
          </a:p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400" dirty="0">
                <a:sym typeface="+mn-ea"/>
              </a:rPr>
              <a:t>清晰的采购流程，灵活的单据处理功能，全方面控制采购价格资料、供应商供货信息等，从而实现采购规范化流程。</a:t>
            </a:r>
            <a:endParaRPr lang="zh-CN" altLang="en-US" sz="2400" dirty="0">
              <a:sym typeface="+mn-ea"/>
            </a:endParaRPr>
          </a:p>
          <a:p>
            <a:pPr eaLnBrk="0" hangingPunct="0">
              <a:buFont typeface="Arial" panose="020B0604020202020204" pitchFamily="34" charset="0"/>
              <a:buNone/>
            </a:pPr>
            <a:endParaRPr lang="zh-CN" altLang="en-US" sz="2400" dirty="0">
              <a:sym typeface="+mn-ea"/>
            </a:endParaRPr>
          </a:p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400" dirty="0"/>
              <a:t>通过采购订货、仓库收货、采购退货、供应商管理、价格及供应商资料信息等功能综合运用的管理系统，对采购物流、资金流的全过程进行有效的双向控制和跟踪，实现完善的企业材料供应信息管理。</a:t>
            </a:r>
            <a:endParaRPr lang="zh-CN" alt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extBox 22"/>
          <p:cNvSpPr txBox="1"/>
          <p:nvPr/>
        </p:nvSpPr>
        <p:spPr>
          <a:xfrm>
            <a:off x="2517140" y="149543"/>
            <a:ext cx="4110038" cy="52197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采购管理</a:t>
            </a:r>
            <a:endParaRPr kumimoji="0" lang="zh-CN" altLang="en-US" sz="2800" b="1" kern="1200" cap="none" spc="0" normalizeH="0" baseline="0" noProof="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4850"/>
            <a:ext cx="9144000" cy="412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14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-1587"/>
            <a:ext cx="189865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6" name="文本框 1"/>
          <p:cNvSpPr txBox="1"/>
          <p:nvPr/>
        </p:nvSpPr>
        <p:spPr>
          <a:xfrm>
            <a:off x="177800" y="925513"/>
            <a:ext cx="8580438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800" b="1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采购单据包括以下几大类：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6" name="文本框 1"/>
          <p:cNvSpPr txBox="1"/>
          <p:nvPr/>
        </p:nvSpPr>
        <p:spPr>
          <a:xfrm>
            <a:off x="9525" y="3030855"/>
            <a:ext cx="1202690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000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采购管理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" name="左大括号 1"/>
          <p:cNvSpPr/>
          <p:nvPr/>
        </p:nvSpPr>
        <p:spPr>
          <a:xfrm>
            <a:off x="1113790" y="1667510"/>
            <a:ext cx="467360" cy="3133090"/>
          </a:xfrm>
          <a:prstGeom prst="leftBrace">
            <a:avLst>
              <a:gd name="adj1" fmla="val 32376"/>
              <a:gd name="adj2" fmla="val 50000"/>
            </a:avLst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3" name="文本框 1"/>
          <p:cNvSpPr txBox="1"/>
          <p:nvPr/>
        </p:nvSpPr>
        <p:spPr>
          <a:xfrm>
            <a:off x="1581150" y="1447800"/>
            <a:ext cx="7562850" cy="8102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lnSpc>
                <a:spcPct val="130000"/>
              </a:lnSpc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1.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采购申请单：严格控制订单需要购买的材料（</a:t>
            </a:r>
            <a:r>
              <a:rPr lang="zh-CN" altLang="en-US" dirty="0" smtClean="0">
                <a:sym typeface="+mn-ea"/>
              </a:rPr>
              <a:t>买多少物料、到哪里买、多少资金预算，预算交期）。通俗：批数量、批供应商、 批单价、批交期。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9" name="文本框 1"/>
          <p:cNvSpPr txBox="1"/>
          <p:nvPr/>
        </p:nvSpPr>
        <p:spPr>
          <a:xfrm>
            <a:off x="1510665" y="4612005"/>
            <a:ext cx="7578090" cy="1476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2.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采购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订货单：来源于采购申请单的数据。采购订货单</a:t>
            </a:r>
            <a:r>
              <a:rPr lang="zh-CN" altLang="en-US" dirty="0">
                <a:sym typeface="+mn-ea"/>
              </a:rPr>
              <a:t>考虑到企业个性化管理，提供了单据自定义、报表自定义（如：采购合同），系统提供最高限价控制手段，通过物料供应商资料页版，实现物料与供应商关联（同一物料不同供应商）等多种功能，从而实现企业标准化流程，满足企业的个性化需求。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extBox 22"/>
          <p:cNvSpPr txBox="1"/>
          <p:nvPr/>
        </p:nvSpPr>
        <p:spPr>
          <a:xfrm>
            <a:off x="2517140" y="149543"/>
            <a:ext cx="4110038" cy="52197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采购管理</a:t>
            </a:r>
            <a:endParaRPr kumimoji="0" lang="zh-CN" altLang="en-US" sz="2800" b="1" kern="1200" cap="none" spc="0" normalizeH="0" baseline="0" noProof="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4850"/>
            <a:ext cx="9144000" cy="412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14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-1587"/>
            <a:ext cx="189865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6" name="文本框 1"/>
          <p:cNvSpPr txBox="1"/>
          <p:nvPr/>
        </p:nvSpPr>
        <p:spPr>
          <a:xfrm>
            <a:off x="177800" y="925513"/>
            <a:ext cx="8580438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800" b="1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采购申请单操作方法：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6" name="文本框 1"/>
          <p:cNvSpPr txBox="1"/>
          <p:nvPr/>
        </p:nvSpPr>
        <p:spPr>
          <a:xfrm>
            <a:off x="9525" y="3430905"/>
            <a:ext cx="1531620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000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采购申请单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" name="左大括号 1"/>
          <p:cNvSpPr/>
          <p:nvPr/>
        </p:nvSpPr>
        <p:spPr>
          <a:xfrm>
            <a:off x="1389380" y="2067560"/>
            <a:ext cx="467360" cy="3133090"/>
          </a:xfrm>
          <a:prstGeom prst="leftBrace">
            <a:avLst>
              <a:gd name="adj1" fmla="val 32376"/>
              <a:gd name="adj2" fmla="val 50000"/>
            </a:avLst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3" name="文本框 1"/>
          <p:cNvSpPr txBox="1"/>
          <p:nvPr/>
        </p:nvSpPr>
        <p:spPr>
          <a:xfrm>
            <a:off x="1856740" y="1847850"/>
            <a:ext cx="7151370" cy="8102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方法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：有来源单据（销售订货单、外发加工单、补料单）：用于按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</a:pP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                订单产生物料申请。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9" name="文本框 1"/>
          <p:cNvSpPr txBox="1"/>
          <p:nvPr/>
        </p:nvSpPr>
        <p:spPr>
          <a:xfrm>
            <a:off x="1786255" y="5012055"/>
            <a:ext cx="757809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方法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：无来源单据（手工输入）：用于批量产生物料申请。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" y="1974850"/>
            <a:ext cx="8905240" cy="466661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660" y="149860"/>
            <a:ext cx="90487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sym typeface="+mn-ea"/>
              </a:rPr>
              <a:t>采购管理</a:t>
            </a:r>
            <a:r>
              <a:rPr lang="en-US" altLang="zh-CN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采购申请单</a:t>
            </a:r>
            <a:endParaRPr lang="zh-CN" altLang="en-US" sz="2800" b="1" dirty="0" smtClean="0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矩形 19"/>
          <p:cNvSpPr/>
          <p:nvPr/>
        </p:nvSpPr>
        <p:spPr>
          <a:xfrm>
            <a:off x="102870" y="2861945"/>
            <a:ext cx="756285" cy="12954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219075" y="3023235"/>
            <a:ext cx="640080" cy="12700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00" name="文本框 1"/>
          <p:cNvSpPr txBox="1"/>
          <p:nvPr/>
        </p:nvSpPr>
        <p:spPr>
          <a:xfrm>
            <a:off x="-3810" y="746125"/>
            <a:ext cx="9124950" cy="67564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</a:rPr>
              <a:t>采购申请单用途：</a:t>
            </a:r>
            <a:r>
              <a:rPr lang="zh-CN" altLang="en-US" sz="14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严格控制订单需要购买的材料（</a:t>
            </a:r>
            <a:r>
              <a:rPr lang="zh-CN" altLang="en-US" sz="1400" dirty="0" smtClean="0">
                <a:sym typeface="+mn-ea"/>
              </a:rPr>
              <a:t>买多少物料、到哪里买、多少资金预算，预算交期</a:t>
            </a:r>
            <a:endParaRPr lang="zh-CN" altLang="en-US" sz="1400" dirty="0" smtClean="0">
              <a:sym typeface="+mn-ea"/>
            </a:endParaRPr>
          </a:p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400" dirty="0" smtClean="0">
                <a:sym typeface="+mn-ea"/>
              </a:rPr>
              <a:t> ）。通俗：批数量、批供应商、 批单价、批交期。</a:t>
            </a:r>
            <a:r>
              <a:rPr lang="zh-CN" altLang="en-US" sz="1400" dirty="0">
                <a:sym typeface="+mn-ea"/>
              </a:rPr>
              <a:t>。</a:t>
            </a:r>
            <a:endParaRPr lang="zh-CN" altLang="en-US" sz="14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101" name="文本框 1"/>
          <p:cNvSpPr txBox="1"/>
          <p:nvPr/>
        </p:nvSpPr>
        <p:spPr>
          <a:xfrm>
            <a:off x="12065" y="1353185"/>
            <a:ext cx="8917940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</a:rPr>
              <a:t>方法</a:t>
            </a:r>
            <a:r>
              <a:rPr lang="en-US" altLang="zh-CN" sz="1600" b="1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</a:rPr>
              <a:t>（有来源单据：销售订货单、外发加工单、补料单）操作方法如下：</a:t>
            </a:r>
            <a:endParaRPr lang="zh-CN" altLang="en-US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102" name="文本框 1"/>
          <p:cNvSpPr txBox="1"/>
          <p:nvPr/>
        </p:nvSpPr>
        <p:spPr>
          <a:xfrm>
            <a:off x="-2540" y="1690370"/>
            <a:ext cx="9124315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步：通过主菜单→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点【 采购管理】→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2..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【采购申请单】。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                    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7" name="矩形标注 6"/>
          <p:cNvSpPr/>
          <p:nvPr/>
        </p:nvSpPr>
        <p:spPr>
          <a:xfrm>
            <a:off x="1586865" y="3150870"/>
            <a:ext cx="1352550" cy="360680"/>
          </a:xfrm>
          <a:prstGeom prst="wedgeRectCallout">
            <a:avLst>
              <a:gd name="adj1" fmla="val -102629"/>
              <a:gd name="adj2" fmla="val -737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点采购申请单</a:t>
            </a:r>
            <a:endParaRPr lang="zh-CN" altLang="zh-CN" sz="1200" strike="noStrike" noProof="1">
              <a:solidFill>
                <a:schemeClr val="tx1"/>
              </a:solidFill>
            </a:endParaRPr>
          </a:p>
        </p:txBody>
      </p:sp>
      <p:sp>
        <p:nvSpPr>
          <p:cNvPr id="3" name="矩形标注 2"/>
          <p:cNvSpPr/>
          <p:nvPr/>
        </p:nvSpPr>
        <p:spPr>
          <a:xfrm>
            <a:off x="1659890" y="2399665"/>
            <a:ext cx="1144905" cy="335280"/>
          </a:xfrm>
          <a:prstGeom prst="wedgeRectCallout">
            <a:avLst>
              <a:gd name="adj1" fmla="val -120493"/>
              <a:gd name="adj2" fmla="val 108143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点采购管理</a:t>
            </a:r>
            <a:endParaRPr lang="zh-CN" altLang="en-US" sz="120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3" grpId="0" bldLvl="0" animBg="1"/>
      <p:bldP spid="30" grpId="0" bldLvl="0" animBg="1"/>
      <p:bldP spid="7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" y="1378585"/>
            <a:ext cx="8977630" cy="53663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736214" y="141605"/>
            <a:ext cx="49321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采购管理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采购申请单</a:t>
            </a:r>
            <a:endParaRPr lang="zh-CN" altLang="en-US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3810" y="734060"/>
            <a:ext cx="913955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点选择，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按需要点来源单据→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在弹出框内输入筛选条件（如：订单号、款号等）按回车→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勾选需要申请的订单→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点确定后系统会自动跳转到采购申请单页面。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910" y="2108835"/>
            <a:ext cx="1100455" cy="744220"/>
          </a:xfrm>
          <a:prstGeom prst="rect">
            <a:avLst/>
          </a:prstGeom>
        </p:spPr>
      </p:pic>
      <p:sp>
        <p:nvSpPr>
          <p:cNvPr id="8" name="矩形标注 7"/>
          <p:cNvSpPr/>
          <p:nvPr/>
        </p:nvSpPr>
        <p:spPr>
          <a:xfrm>
            <a:off x="1826260" y="1378585"/>
            <a:ext cx="1663700" cy="433705"/>
          </a:xfrm>
          <a:prstGeom prst="wedgeRectCallout">
            <a:avLst>
              <a:gd name="adj1" fmla="val 39656"/>
              <a:gd name="adj2" fmla="val 79282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</a:t>
            </a:r>
            <a:r>
              <a:rPr lang="zh-CN" altLang="zh-CN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选择，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按需要点来源单据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43910" y="1957070"/>
            <a:ext cx="1100455" cy="88709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8085" y="2908300"/>
            <a:ext cx="5621020" cy="299720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2512060" y="3029585"/>
            <a:ext cx="4247515" cy="39560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512060" y="3584575"/>
            <a:ext cx="3272790" cy="11112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7392035" y="5739130"/>
            <a:ext cx="358775" cy="19304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标注 25"/>
          <p:cNvSpPr/>
          <p:nvPr/>
        </p:nvSpPr>
        <p:spPr>
          <a:xfrm>
            <a:off x="440055" y="2908300"/>
            <a:ext cx="1628140" cy="666115"/>
          </a:xfrm>
          <a:prstGeom prst="wedgeRectCallout">
            <a:avLst>
              <a:gd name="adj1" fmla="val 75429"/>
              <a:gd name="adj2" fmla="val -795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弹出框内输入筛选条件（如：订单号、款号等）按回车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7" name="矩形标注 26"/>
          <p:cNvSpPr/>
          <p:nvPr/>
        </p:nvSpPr>
        <p:spPr>
          <a:xfrm>
            <a:off x="3167380" y="4090670"/>
            <a:ext cx="1690370" cy="288925"/>
          </a:xfrm>
          <a:prstGeom prst="wedgeRectCallout">
            <a:avLst>
              <a:gd name="adj1" fmla="val -29526"/>
              <a:gd name="adj2" fmla="val -185824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3.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选需要申请的订单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8" name="矩形标注 27"/>
          <p:cNvSpPr/>
          <p:nvPr/>
        </p:nvSpPr>
        <p:spPr>
          <a:xfrm>
            <a:off x="6991985" y="5280025"/>
            <a:ext cx="843280" cy="282575"/>
          </a:xfrm>
          <a:prstGeom prst="wedgeRectCallout">
            <a:avLst>
              <a:gd name="adj1" fmla="val 21611"/>
              <a:gd name="adj2" fmla="val 105056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4.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点确定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9" name="文本框 20"/>
          <p:cNvSpPr txBox="1"/>
          <p:nvPr/>
        </p:nvSpPr>
        <p:spPr>
          <a:xfrm>
            <a:off x="107950" y="5164455"/>
            <a:ext cx="6812280" cy="132207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pPr algn="l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、选择订单物料、选择订单包材：适用于按销售订货单购买物料。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、选择外发加工单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物料、外发加工单包材：适用于外发加工单购买物料。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</a:t>
            </a:r>
            <a:r>
              <a:rPr lang="zh-CN" altLang="en-US"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★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在弹出框内为红色字体提醒时，表示订单没有物料明细（即没有生成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BOM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，请通知相关人员进行处理）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、启用日期：启用日期没有勾选，查找范围就不受时间限制。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★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一张销售订货单只能做一次采购申请单。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★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可以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合并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多张销售订货单做采购申请。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26" grpId="0" bldLvl="0" animBg="1"/>
      <p:bldP spid="21" grpId="0" bldLvl="0" animBg="1"/>
      <p:bldP spid="22" grpId="0" bldLvl="0" animBg="1"/>
      <p:bldP spid="27" grpId="0" bldLvl="0" animBg="1"/>
      <p:bldP spid="28" grpId="0" bldLvl="0" animBg="1"/>
      <p:bldP spid="25" grpId="0" bldLvl="0" animBg="1"/>
      <p:bldP spid="29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2736214" y="141605"/>
            <a:ext cx="49321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采购管理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采购申请单</a:t>
            </a:r>
            <a:endParaRPr lang="zh-CN" altLang="en-US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3810" y="734060"/>
            <a:ext cx="913955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在子表内输入相关信息（如：不订购、供应商、首次批准数量、批准采购单价、交货日期等）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申请数量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点保存→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勾选需要审核的物料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点审核（审核权限参考权限表）。</a:t>
            </a:r>
            <a:endParaRPr lang="en-US" altLang="zh-CN" sz="12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" y="1234440"/>
            <a:ext cx="8905240" cy="53911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5750" y="2779395"/>
            <a:ext cx="8593455" cy="33401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标注 6"/>
          <p:cNvSpPr/>
          <p:nvPr/>
        </p:nvSpPr>
        <p:spPr>
          <a:xfrm>
            <a:off x="5635625" y="1327785"/>
            <a:ext cx="1653540" cy="405130"/>
          </a:xfrm>
          <a:prstGeom prst="wedgeRectCallout">
            <a:avLst>
              <a:gd name="adj1" fmla="val -79723"/>
              <a:gd name="adj2" fmla="val 8025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3.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勾选需要审核的物料点审核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" name="矩形标注 9"/>
          <p:cNvSpPr/>
          <p:nvPr/>
        </p:nvSpPr>
        <p:spPr>
          <a:xfrm>
            <a:off x="1418590" y="3280410"/>
            <a:ext cx="6732905" cy="306705"/>
          </a:xfrm>
          <a:prstGeom prst="wedgeRectCallout">
            <a:avLst>
              <a:gd name="adj1" fmla="val -32580"/>
              <a:gd name="adj2" fmla="val -9154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在子表内输入相关信息（如：不订购、供应商、首次批准数量、批准采购单价、交货日期等）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" name="矩形标注 10"/>
          <p:cNvSpPr/>
          <p:nvPr/>
        </p:nvSpPr>
        <p:spPr>
          <a:xfrm>
            <a:off x="4016375" y="1443990"/>
            <a:ext cx="832485" cy="288925"/>
          </a:xfrm>
          <a:prstGeom prst="wedgeRectCallout">
            <a:avLst>
              <a:gd name="adj1" fmla="val 39168"/>
              <a:gd name="adj2" fmla="val 98791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点保存</a:t>
            </a:r>
            <a:endParaRPr lang="en-US" altLang="zh-CN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6445" y="1845945"/>
            <a:ext cx="333375" cy="15684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943475" y="1845945"/>
            <a:ext cx="395605" cy="15748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20"/>
          <p:cNvSpPr txBox="1"/>
          <p:nvPr/>
        </p:nvSpPr>
        <p:spPr>
          <a:xfrm>
            <a:off x="197485" y="3628390"/>
            <a:ext cx="8806815" cy="301498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pPr algn="l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、如果物料不用订购，勾选不订购。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供应商、供方货号、供应商单价：默认带出【物料供应商资料】中设置的主供应商信息（供方货号，采购单价），可进行手工修改。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、双击款号列表，可以看到物料单款用量。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、申请数量：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指来源于销售订货单物料明细的需求用量或净需求用量（净需求可在参数设置中设定。） 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、申请增加数量：可自定义增加或减少申请的数量（减少数量时，需要输入负数）。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、首次批准数量：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记录首次批准的物料（只要是审核后，变更后在刷新此列不会有任何变化。）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、补订数量、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退订数量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首次审核后，订单或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BOM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发生变更，造成物料用量增加或减少，刷新后会在补订数量显示（减少会在退订数量显示，  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增加会在补订数量显示）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、现有库存、可用库存：来源于【销售订货单】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【物料明细】页版内的数据。双击可查看现有库存与可用库存。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、批准采购单价：当系统参数设置采购订货单单价来源于批准单价时，此处输入的单价会自动带入到采购订货单中。当采购订货单中单价超   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   过批准采购单价时，系统会提示需要特权密码审核后才允许通过。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、参考进价、参考金额：为了做订单物料金额预算。数据来源于物料资料的参考进价，参考金额会自动计算。如物料资料参考进价有修改，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   可点刷新</a:t>
            </a:r>
            <a:r>
              <a:rPr lang="zh-CN" altLang="en-US" sz="11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→刷新参考进价，系统会根据刷新后的参考进价重新计算参考金额。</a:t>
            </a:r>
            <a:endParaRPr lang="zh-CN" altLang="en-US" sz="11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11</a:t>
            </a:r>
            <a:r>
              <a:rPr lang="zh-CN" altLang="en-US" sz="11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、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审核：</a:t>
            </a:r>
            <a:r>
              <a:rPr lang="zh-CN" altLang="en-US" sz="1100" dirty="0">
                <a:sym typeface="+mn-ea"/>
              </a:rPr>
              <a:t>采购申请单内可按实际需要进行物料分批审核。</a:t>
            </a:r>
            <a:r>
              <a:rPr lang="zh-CN" altLang="en-US" sz="1100" dirty="0">
                <a:latin typeface="宋体" panose="02010600030101010101" pitchFamily="2" charset="-122"/>
                <a:sym typeface="+mn-ea"/>
              </a:rPr>
              <a:t>物料审核后，方可进行下一流程（审核后可以进行采购订货单的操作）。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12</a:t>
            </a:r>
            <a:r>
              <a:rPr lang="zh-CN" altLang="en-US" sz="11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、在物料资料中设定采购员后，在此处可以分采购员申请。</a:t>
            </a:r>
            <a:endParaRPr lang="zh-CN" altLang="en-US" sz="11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、核对：勾选了核对后，字体会变为绿色。表示此条数据经过确认。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  <p:bldP spid="12" grpId="0" bldLvl="0" animBg="1"/>
      <p:bldP spid="11" grpId="0" bldLvl="0" animBg="1"/>
      <p:bldP spid="13" grpId="0" bldLvl="0" animBg="1"/>
      <p:bldP spid="7" grpId="0" bldLvl="0" animBg="1"/>
      <p:bldP spid="15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extBox 22"/>
          <p:cNvSpPr txBox="1"/>
          <p:nvPr/>
        </p:nvSpPr>
        <p:spPr>
          <a:xfrm>
            <a:off x="2330450" y="74613"/>
            <a:ext cx="4943475" cy="52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采购管理</a:t>
            </a:r>
            <a:r>
              <a:rPr kumimoji="0" lang="en-US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-</a:t>
            </a:r>
            <a:r>
              <a:rPr kumimoji="0" lang="zh-CN" altLang="en-US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采购申请单</a:t>
            </a:r>
            <a:endParaRPr kumimoji="0" lang="zh-CN" altLang="en-US" sz="2800" b="1" kern="1200" cap="none" spc="0" normalizeH="0" baseline="0" noProof="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4850"/>
            <a:ext cx="9144000" cy="412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433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-1587"/>
            <a:ext cx="189865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40" name="文本框 5"/>
          <p:cNvSpPr txBox="1"/>
          <p:nvPr/>
        </p:nvSpPr>
        <p:spPr>
          <a:xfrm>
            <a:off x="10795" y="1303020"/>
            <a:ext cx="9123045" cy="2030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｛申请单号、申请日期｝：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用与输入该申请单的申请单号、申请日期。申请单号可由系统自动产生，也可手动修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                        改。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｛来源类型｝：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注明该申请单是来自销售订货单还是补料单。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｛订购状态｝：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用于筛查需订购物料与不订购物料。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sym typeface="宋体" panose="02010600030101010101" pitchFamily="2" charset="-122"/>
              </a:rPr>
              <a:t>｛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条件选择框包含</a:t>
            </a:r>
            <a:r>
              <a:rPr lang="zh-CN" altLang="en-US" sz="1400" b="1" dirty="0">
                <a:latin typeface="宋体" panose="02010600030101010101" pitchFamily="2" charset="-122"/>
                <a:sym typeface="宋体" panose="02010600030101010101" pitchFamily="2" charset="-122"/>
              </a:rPr>
              <a:t>｝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用于筛选需订购的物料方便操作</a:t>
            </a:r>
            <a:r>
              <a:rPr lang="zh-CN" altLang="en-US" sz="1400" dirty="0">
                <a:latin typeface="宋体" panose="02010600030101010101" pitchFamily="2" charset="-122"/>
                <a:sym typeface="宋体" panose="02010600030101010101" pitchFamily="2" charset="-122"/>
              </a:rPr>
              <a:t>（物料名称、物料编号、规格、物料分类、供应商、款号列</a:t>
            </a:r>
            <a:endParaRPr lang="zh-CN" altLang="en-US" sz="1400" dirty="0"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sym typeface="宋体" panose="02010600030101010101" pitchFamily="2" charset="-122"/>
              </a:rPr>
              <a:t>                    表）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｛备注｝：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用于填写该申请单的主表备注说明。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｛创建人、修改人、审核人｝：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记录该订单相关的操作员是谁。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｛创建时间、修改时间、审核时间｝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：记录该订单的相关操作时间是说明时间。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4341" name="文本框 2"/>
          <p:cNvSpPr txBox="1"/>
          <p:nvPr/>
        </p:nvSpPr>
        <p:spPr>
          <a:xfrm>
            <a:off x="10795" y="808355"/>
            <a:ext cx="91344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采购申请单主表字段解释：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extBox 22"/>
          <p:cNvSpPr txBox="1"/>
          <p:nvPr/>
        </p:nvSpPr>
        <p:spPr>
          <a:xfrm>
            <a:off x="2330450" y="74613"/>
            <a:ext cx="4943475" cy="52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采购管理</a:t>
            </a:r>
            <a:r>
              <a:rPr kumimoji="0" lang="en-US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-</a:t>
            </a:r>
            <a:r>
              <a:rPr kumimoji="0" lang="zh-CN" altLang="en-US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采购申请单</a:t>
            </a:r>
            <a:endParaRPr kumimoji="0" lang="zh-CN" altLang="en-US" sz="2800" b="1" kern="1200" cap="none" spc="0" normalizeH="0" baseline="0" noProof="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4850"/>
            <a:ext cx="9144000" cy="412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29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-1587"/>
            <a:ext cx="189865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2" name="文本框 2"/>
          <p:cNvSpPr txBox="1"/>
          <p:nvPr/>
        </p:nvSpPr>
        <p:spPr>
          <a:xfrm>
            <a:off x="0" y="746125"/>
            <a:ext cx="91344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采购申请单申请明细页版字段解释：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93" name="文本框 2"/>
          <p:cNvSpPr txBox="1"/>
          <p:nvPr/>
        </p:nvSpPr>
        <p:spPr>
          <a:xfrm>
            <a:off x="-57150" y="1030288"/>
            <a:ext cx="9188450" cy="48488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lnSpc>
                <a:spcPct val="130000"/>
              </a:lnSpc>
            </a:pP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不订购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确定物料是否要订购，如该材料使用批量订购的方式或库存数量可以满足订单需求，则勾上。在物料           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          分类中设置。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核对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勾选后表示物料已经核对（字体颜色会变绿）。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审核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400" dirty="0">
                <a:sym typeface="+mn-ea"/>
              </a:rPr>
              <a:t>采购申请单内可按实际需要进行物料分批审核。</a:t>
            </a:r>
            <a:r>
              <a:rPr lang="zh-CN" altLang="en-US" sz="1400" dirty="0">
                <a:latin typeface="宋体" panose="02010600030101010101" pitchFamily="2" charset="-122"/>
                <a:sym typeface="+mn-ea"/>
              </a:rPr>
              <a:t>物料审核后，方可进行下一流程（审核后可以进行采购订</a:t>
            </a:r>
            <a:endParaRPr lang="zh-CN" altLang="en-US" sz="1400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latin typeface="宋体" panose="02010600030101010101" pitchFamily="2" charset="-122"/>
                <a:sym typeface="+mn-ea"/>
              </a:rPr>
              <a:t>        货单的操作）。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我要催、催次、被催次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：用于采购追料，并记录被追次数。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{款号列表、客户款号列表、客户产品名称列表、子单编号列表}：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记录订单材料使用在哪些款上。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                                                    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{物料分类、物料编号、物料名称、规格、颜色、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起订量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记录关联的物料信息，在物料资料中增加好后可自动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           带出。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{采购员}：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记录物料是由那个采购员负责，在物料资料分类中可设定。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{申请数量}：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指来源于销售订货单物料明细的需求用量或净需求用量（净需求可在参数设置中设定。）  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{申请增加数量、申请增加比率}：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在物料申请数量上增加用量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可按数量、或百分比进行增加或填写负数，用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于手工减可用库存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{首次批准数量}：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记录首次批准的物料（只要是审核后，变更后在刷新此列不会有任何变化。）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{补订数量、退订数量}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：首次审核后，订单或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BOM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发生变更，造成物料用量增加或减少，刷新后会在补订数量显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示（减少会在退订数量显示，增加会在补订数量显示）。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{变更次数}：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物料发生变更后，变更的物料，点一次刷新就会记录一次。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{已订货数量}：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由采购订货单中的数量自动反填，便于查询跟踪。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{供应商单价}：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在物料资料中有填写供应商单价并在参数设置中设置启用之后，系统会自动带出供应商单价。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extBox 22"/>
          <p:cNvSpPr txBox="1"/>
          <p:nvPr/>
        </p:nvSpPr>
        <p:spPr>
          <a:xfrm>
            <a:off x="2330450" y="74613"/>
            <a:ext cx="4943475" cy="52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采购管理</a:t>
            </a:r>
            <a:r>
              <a:rPr kumimoji="0" lang="en-US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-</a:t>
            </a:r>
            <a:r>
              <a:rPr kumimoji="0" lang="zh-CN" altLang="en-US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采购申请单</a:t>
            </a:r>
            <a:endParaRPr kumimoji="0" lang="zh-CN" altLang="en-US" sz="2800" b="1" kern="1200" cap="none" spc="0" normalizeH="0" baseline="0" noProof="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4850"/>
            <a:ext cx="9144000" cy="412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29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-1587"/>
            <a:ext cx="189865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2" name="文本框 2"/>
          <p:cNvSpPr txBox="1"/>
          <p:nvPr/>
        </p:nvSpPr>
        <p:spPr>
          <a:xfrm>
            <a:off x="0" y="746125"/>
            <a:ext cx="91344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采购申请单申请明细页版字段解释：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93" name="文本框 2"/>
          <p:cNvSpPr txBox="1"/>
          <p:nvPr/>
        </p:nvSpPr>
        <p:spPr>
          <a:xfrm>
            <a:off x="-57150" y="1030288"/>
            <a:ext cx="9188450" cy="20478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{批准采购单价、批准金额}：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作为采购订货单的采购单价标准，如果超过批准采购单价需进行特权审核。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{可用库存、现有库存}：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系统自动带出物料的库存信息，双击可用库存可进入可用库存明细页面。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{交货日期}：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要求采购材料交货日期。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{审核人、审核日期}：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记录审核该材料的信息的审核人、审核日期。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{特别说明、备注}：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记录该材料的特别说明、备注（可带入入仓单）。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{来源单号}：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记录该申请是来源什么单据的。（如：销售订货单，补料单等）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{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结单、结单人、结单日期、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结单原因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}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用于终止物料申请，结单后就不允许在订购。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30" y="1734185"/>
            <a:ext cx="8856345" cy="50774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660" y="149860"/>
            <a:ext cx="90487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sym typeface="+mn-ea"/>
              </a:rPr>
              <a:t>采购管理</a:t>
            </a:r>
            <a:r>
              <a:rPr lang="en-US" altLang="zh-CN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采购申请单</a:t>
            </a:r>
            <a:endParaRPr lang="zh-CN" altLang="en-US" sz="2800" b="1" dirty="0" smtClean="0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矩形 19"/>
          <p:cNvSpPr/>
          <p:nvPr/>
        </p:nvSpPr>
        <p:spPr>
          <a:xfrm>
            <a:off x="782955" y="3023235"/>
            <a:ext cx="461010" cy="12954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201295" y="3023235"/>
            <a:ext cx="542290" cy="13589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00" name="文本框 1"/>
          <p:cNvSpPr txBox="1"/>
          <p:nvPr/>
        </p:nvSpPr>
        <p:spPr>
          <a:xfrm>
            <a:off x="-3810" y="746125"/>
            <a:ext cx="91249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申请汇总页版</a:t>
            </a: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</a:rPr>
              <a:t>用途：</a:t>
            </a:r>
            <a:r>
              <a:rPr lang="zh-CN" altLang="en-US" sz="1400" dirty="0">
                <a:latin typeface="Calibri" panose="020F0502020204030204" charset="0"/>
                <a:ea typeface="宋体" panose="02010600030101010101" pitchFamily="2" charset="-122"/>
              </a:rPr>
              <a:t>合并多张订单相同物料汇总申请。</a:t>
            </a:r>
            <a:endParaRPr lang="zh-CN" altLang="en-US" sz="14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101" name="文本框 1"/>
          <p:cNvSpPr txBox="1"/>
          <p:nvPr/>
        </p:nvSpPr>
        <p:spPr>
          <a:xfrm>
            <a:off x="10160" y="1112520"/>
            <a:ext cx="8917940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</a:rPr>
              <a:t>操作方法如下：</a:t>
            </a:r>
            <a:endParaRPr lang="zh-CN" altLang="en-US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102" name="文本框 1"/>
          <p:cNvSpPr txBox="1"/>
          <p:nvPr/>
        </p:nvSpPr>
        <p:spPr>
          <a:xfrm>
            <a:off x="-3175" y="1356360"/>
            <a:ext cx="912431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点申请汇总页版→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2.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点物料汇总→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3.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在子表内输入相关信息（如：不订购、供应商、首次批准数量、批准采购单价、交货日期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               等）→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点物料分配汇总数据则会自动分配到申请明细中→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5.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 点审核（审核权限参考权限表）。        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7" name="矩形标注 6"/>
          <p:cNvSpPr/>
          <p:nvPr/>
        </p:nvSpPr>
        <p:spPr>
          <a:xfrm>
            <a:off x="271145" y="2489835"/>
            <a:ext cx="1120775" cy="271145"/>
          </a:xfrm>
          <a:prstGeom prst="wedgeRectCallout">
            <a:avLst>
              <a:gd name="adj1" fmla="val -33229"/>
              <a:gd name="adj2" fmla="val 140632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点物料汇总</a:t>
            </a:r>
            <a:endParaRPr lang="zh-CN" altLang="zh-CN" sz="1200" strike="noStrike" noProof="1">
              <a:solidFill>
                <a:schemeClr val="tx1"/>
              </a:solidFill>
            </a:endParaRPr>
          </a:p>
        </p:txBody>
      </p:sp>
      <p:sp>
        <p:nvSpPr>
          <p:cNvPr id="3" name="矩形标注 2"/>
          <p:cNvSpPr/>
          <p:nvPr/>
        </p:nvSpPr>
        <p:spPr>
          <a:xfrm>
            <a:off x="2072640" y="6523355"/>
            <a:ext cx="1600835" cy="262890"/>
          </a:xfrm>
          <a:prstGeom prst="wedgeRectCallout">
            <a:avLst>
              <a:gd name="adj1" fmla="val -110214"/>
              <a:gd name="adj2" fmla="val 1884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点申请汇总页版</a:t>
            </a:r>
            <a:endParaRPr lang="zh-CN" altLang="en-US" sz="1200" strike="noStrike" noProof="1">
              <a:solidFill>
                <a:schemeClr val="tx1"/>
              </a:solidFill>
            </a:endParaRPr>
          </a:p>
        </p:txBody>
      </p:sp>
      <p:sp>
        <p:nvSpPr>
          <p:cNvPr id="10" name="矩形标注 9"/>
          <p:cNvSpPr/>
          <p:nvPr/>
        </p:nvSpPr>
        <p:spPr>
          <a:xfrm>
            <a:off x="2625090" y="3817620"/>
            <a:ext cx="3221355" cy="566420"/>
          </a:xfrm>
          <a:prstGeom prst="wedgeRectCallout">
            <a:avLst>
              <a:gd name="adj1" fmla="val -22383"/>
              <a:gd name="adj2" fmla="val -10414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3.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在子表内输入相关信息（如：不订购、供应商、首次批准数量、批准采购单价、交货日期等）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2785" y="6584950"/>
            <a:ext cx="416560" cy="20129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标注 5"/>
          <p:cNvSpPr/>
          <p:nvPr/>
        </p:nvSpPr>
        <p:spPr>
          <a:xfrm>
            <a:off x="1971675" y="2852420"/>
            <a:ext cx="1174750" cy="306705"/>
          </a:xfrm>
          <a:prstGeom prst="wedgeRectCallout">
            <a:avLst>
              <a:gd name="adj1" fmla="val -112540"/>
              <a:gd name="adj2" fmla="val 22256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4.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物料分配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2575" y="3345815"/>
            <a:ext cx="8579485" cy="14033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20"/>
          <p:cNvSpPr txBox="1"/>
          <p:nvPr/>
        </p:nvSpPr>
        <p:spPr>
          <a:xfrm>
            <a:off x="175895" y="4624070"/>
            <a:ext cx="8806815" cy="181483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pPr algn="l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、如果物料不用订购，勾选不订购。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供应商、供方货号、供应商单价：默认带出【物料供应商资料】中设置的主供应商信息（供方货号，采购单价），可进行手工修改。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、申请数量：是申请明细页版相同物料的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数量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汇总，不可修改。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、首次批准数量：默认情况下，同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申请数量，可进行手工修改。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、现有库存、可用库存：来源于【销售订货单】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【物料明细】页版内的数据。双击可查看现有库存与可用库存。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、批准采购单价：当系统参数设置采购订货单单价来源于批准单价时，此处输入的单价会自动带入到采购订货单中。当采购订货单中单价超过批准采购单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   价时，系统会提示需要特权密码审核后才允许通过。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、参考进价、参考金额：为了做订单物料金额预算。数据来源于物料资料的参考进价，参考金额会自动计算。如物料资料参考进价有修改，可点刷新</a:t>
            </a:r>
            <a:r>
              <a:rPr lang="zh-CN" altLang="en-US" sz="10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→刷</a:t>
            </a:r>
            <a:endParaRPr lang="zh-CN" altLang="en-US" sz="10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zh-CN" altLang="en-US" sz="10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      新参考进价，系统会根据刷新后的参考进价重新计算参考金额。</a:t>
            </a:r>
            <a:endParaRPr lang="zh-CN" altLang="en-US" sz="10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0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8</a:t>
            </a:r>
            <a:r>
              <a:rPr lang="zh-CN" altLang="en-US" sz="10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、采购申请单内可按实际需要进行物料分批审核。（如：先确定的部分材料，可以先审核进行购买）</a:t>
            </a:r>
            <a:endParaRPr lang="zh-CN" altLang="en-US" sz="1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904740" y="2254885"/>
            <a:ext cx="389890" cy="23495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标注 11"/>
          <p:cNvSpPr/>
          <p:nvPr/>
        </p:nvSpPr>
        <p:spPr>
          <a:xfrm>
            <a:off x="5539105" y="1948180"/>
            <a:ext cx="888365" cy="306705"/>
          </a:xfrm>
          <a:prstGeom prst="wedgeRectCallout">
            <a:avLst>
              <a:gd name="adj1" fmla="val -88918"/>
              <a:gd name="adj2" fmla="val 5703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5.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点审核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3" grpId="0" bldLvl="0" animBg="1"/>
      <p:bldP spid="7" grpId="0" bldLvl="0" animBg="1"/>
      <p:bldP spid="30" grpId="0" bldLvl="0" animBg="1"/>
      <p:bldP spid="10" grpId="0" bldLvl="0" animBg="1"/>
      <p:bldP spid="8" grpId="0" bldLvl="0" animBg="1"/>
      <p:bldP spid="6" grpId="0" bldLvl="0" animBg="1"/>
      <p:bldP spid="20" grpId="0" bldLvl="0" animBg="1"/>
      <p:bldP spid="11" grpId="0" bldLvl="0" animBg="1"/>
      <p:bldP spid="12" grpId="0" bldLvl="0" animBg="1"/>
      <p:bldP spid="9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extBox 22"/>
          <p:cNvSpPr txBox="1"/>
          <p:nvPr/>
        </p:nvSpPr>
        <p:spPr>
          <a:xfrm>
            <a:off x="2330450" y="74613"/>
            <a:ext cx="4943475" cy="52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采购管理</a:t>
            </a:r>
            <a:r>
              <a:rPr kumimoji="0" lang="en-US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-</a:t>
            </a:r>
            <a:r>
              <a:rPr kumimoji="0" lang="zh-CN" altLang="en-US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采购申请单</a:t>
            </a:r>
            <a:endParaRPr kumimoji="0" lang="zh-CN" altLang="en-US" sz="2800" b="1" kern="1200" cap="none" spc="0" normalizeH="0" baseline="0" noProof="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4850"/>
            <a:ext cx="9144000" cy="412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843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-1587"/>
            <a:ext cx="189865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6" name="文本框 2"/>
          <p:cNvSpPr txBox="1"/>
          <p:nvPr/>
        </p:nvSpPr>
        <p:spPr>
          <a:xfrm>
            <a:off x="0" y="835025"/>
            <a:ext cx="91344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采购申请单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申请汇总页版字段解释：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437" name="文本框 2"/>
          <p:cNvSpPr txBox="1"/>
          <p:nvPr/>
        </p:nvSpPr>
        <p:spPr>
          <a:xfrm>
            <a:off x="45720" y="1308735"/>
            <a:ext cx="9008745" cy="28689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lnSpc>
                <a:spcPct val="130000"/>
              </a:lnSpc>
            </a:pP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不订购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确定物料是否要订购，如该材料使用批量订购的方式或库存数量可以满足订单需求，则勾上。在物料           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          分类中设置。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审核</a:t>
            </a:r>
            <a:r>
              <a: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物料审核后，方可进行下一流程（审核后可以进行采购订货单的操作）。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                                                  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{物料分类、物料编号、物料名称、规格、颜色、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起订量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记录关联的物料信息，在物料资料中增加好后可自动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           带出。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{申请数量}：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指来源于销售订货单物料明细的需求用量或净需求用量（净需求可在参数设置中设定。）  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{首次批准数量}：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记录首次批准的物料（只要是审核后，变更后在刷新此列不会有任何变化。）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{供应商单价}：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在物料资料中有填写供应商单价并在参数设置中设置启用之后，系统会自动带出供应商单价。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{批准采购单价、批准金额}：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作为采购订货单的采购单价标准，如果超过批准采购单价需进行特权审核。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{可用库存、现有库存}：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系统自动带出物料的库存信息，双击可用库存可进入可用库存明细页面。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{交货日期}：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要求采购材料交货日期。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{审核人、审核日期}：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记录审核该材料的信息的审核人、审核日期。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" y="1631315"/>
            <a:ext cx="8991600" cy="514159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660" y="149860"/>
            <a:ext cx="90487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sym typeface="+mn-ea"/>
              </a:rPr>
              <a:t>采购管理</a:t>
            </a:r>
            <a:r>
              <a:rPr lang="en-US" altLang="zh-CN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采购申请单</a:t>
            </a:r>
            <a:endParaRPr lang="zh-CN" altLang="en-US" sz="2800" b="1" dirty="0" smtClean="0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00" name="文本框 1"/>
          <p:cNvSpPr txBox="1"/>
          <p:nvPr/>
        </p:nvSpPr>
        <p:spPr>
          <a:xfrm>
            <a:off x="-3810" y="746125"/>
            <a:ext cx="91249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采购明细页版</a:t>
            </a: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</a:rPr>
              <a:t>用途：</a:t>
            </a:r>
            <a:r>
              <a:rPr lang="zh-CN" altLang="en-US" sz="1400" dirty="0">
                <a:latin typeface="Calibri" panose="020F0502020204030204" charset="0"/>
                <a:ea typeface="宋体" panose="02010600030101010101" pitchFamily="2" charset="-122"/>
              </a:rPr>
              <a:t>快速查看采购申请单物料的采购进度。</a:t>
            </a:r>
            <a:endParaRPr lang="zh-CN" altLang="en-US" sz="14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101" name="文本框 1"/>
          <p:cNvSpPr txBox="1"/>
          <p:nvPr/>
        </p:nvSpPr>
        <p:spPr>
          <a:xfrm>
            <a:off x="10160" y="1112520"/>
            <a:ext cx="8917940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</a:rPr>
              <a:t>操作方法如下：</a:t>
            </a:r>
            <a:endParaRPr lang="zh-CN" altLang="en-US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102" name="文本框 1"/>
          <p:cNvSpPr txBox="1"/>
          <p:nvPr/>
        </p:nvSpPr>
        <p:spPr>
          <a:xfrm>
            <a:off x="-3175" y="1356360"/>
            <a:ext cx="9124315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点采购明细页版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。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      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5" name="文本框 20"/>
          <p:cNvSpPr txBox="1"/>
          <p:nvPr/>
        </p:nvSpPr>
        <p:spPr>
          <a:xfrm>
            <a:off x="167640" y="5576570"/>
            <a:ext cx="8806815" cy="81470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pPr algn="l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、在此页版显示的数据说明已经开过采购订货单。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、可以快速查看这张采购申请单的物料是在哪家供应商买的、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交货日期、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是否入仓、退货、结单。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、双击采购单号系统会自动跳转到对应的采购订货单中，方便查看明细。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矩形标注 12"/>
          <p:cNvSpPr/>
          <p:nvPr/>
        </p:nvSpPr>
        <p:spPr>
          <a:xfrm>
            <a:off x="2437130" y="6523355"/>
            <a:ext cx="1493520" cy="262890"/>
          </a:xfrm>
          <a:prstGeom prst="wedgeRectCallout">
            <a:avLst>
              <a:gd name="adj1" fmla="val -110214"/>
              <a:gd name="adj2" fmla="val 1884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点采购明细页版</a:t>
            </a:r>
            <a:endParaRPr lang="zh-CN" altLang="en-US" sz="1200" strike="noStrike" noProof="1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57275" y="6584950"/>
            <a:ext cx="416560" cy="20129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3" grpId="0" bldLvl="0" animBg="1"/>
      <p:bldP spid="15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" y="1570355"/>
            <a:ext cx="9069070" cy="5212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660" y="149860"/>
            <a:ext cx="90487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sym typeface="+mn-ea"/>
              </a:rPr>
              <a:t>采购管理</a:t>
            </a:r>
            <a:r>
              <a:rPr lang="en-US" altLang="zh-CN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采购申请单</a:t>
            </a:r>
            <a:endParaRPr lang="zh-CN" altLang="en-US" sz="2800" b="1" dirty="0" smtClean="0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00" name="文本框 1"/>
          <p:cNvSpPr txBox="1"/>
          <p:nvPr/>
        </p:nvSpPr>
        <p:spPr>
          <a:xfrm>
            <a:off x="-3810" y="746125"/>
            <a:ext cx="91249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变更明细页版</a:t>
            </a: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</a:rPr>
              <a:t>用途：</a:t>
            </a:r>
            <a:r>
              <a:rPr lang="zh-CN" altLang="en-US" sz="1400" dirty="0">
                <a:latin typeface="Calibri" panose="020F0502020204030204" charset="0"/>
                <a:ea typeface="宋体" panose="02010600030101010101" pitchFamily="2" charset="-122"/>
              </a:rPr>
              <a:t>记录发生变更的详细信息。</a:t>
            </a:r>
            <a:endParaRPr lang="zh-CN" altLang="en-US" sz="14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101" name="文本框 1"/>
          <p:cNvSpPr txBox="1"/>
          <p:nvPr/>
        </p:nvSpPr>
        <p:spPr>
          <a:xfrm>
            <a:off x="10160" y="1112520"/>
            <a:ext cx="8917940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</a:rPr>
              <a:t>操作方法如下：</a:t>
            </a:r>
            <a:endParaRPr lang="zh-CN" altLang="en-US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102" name="文本框 1"/>
          <p:cNvSpPr txBox="1"/>
          <p:nvPr/>
        </p:nvSpPr>
        <p:spPr>
          <a:xfrm>
            <a:off x="-3175" y="1356360"/>
            <a:ext cx="9124315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点变更明细页版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。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      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5" name="文本框 20"/>
          <p:cNvSpPr txBox="1"/>
          <p:nvPr/>
        </p:nvSpPr>
        <p:spPr>
          <a:xfrm>
            <a:off x="314325" y="5990590"/>
            <a:ext cx="8806815" cy="47561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pPr algn="l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、蓝色字体为增加或减少用量，红色字体表示为删除物料，绿色字体为新增物料。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矩形标注 12"/>
          <p:cNvSpPr/>
          <p:nvPr/>
        </p:nvSpPr>
        <p:spPr>
          <a:xfrm>
            <a:off x="2819400" y="6523355"/>
            <a:ext cx="1493520" cy="262890"/>
          </a:xfrm>
          <a:prstGeom prst="wedgeRectCallout">
            <a:avLst>
              <a:gd name="adj1" fmla="val -110214"/>
              <a:gd name="adj2" fmla="val 1884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点变更明细页版</a:t>
            </a:r>
            <a:endParaRPr lang="zh-CN" altLang="en-US" sz="1200" strike="noStrike" noProof="1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39545" y="6584950"/>
            <a:ext cx="416560" cy="20129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3" grpId="0" bldLvl="0" animBg="1"/>
      <p:bldP spid="15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" y="1974850"/>
            <a:ext cx="8905240" cy="466661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660" y="149860"/>
            <a:ext cx="90487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sym typeface="+mn-ea"/>
              </a:rPr>
              <a:t>采购管理</a:t>
            </a:r>
            <a:r>
              <a:rPr lang="en-US" altLang="zh-CN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采购申请单</a:t>
            </a:r>
            <a:endParaRPr lang="zh-CN" altLang="en-US" sz="2800" b="1" dirty="0" smtClean="0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矩形 19"/>
          <p:cNvSpPr/>
          <p:nvPr/>
        </p:nvSpPr>
        <p:spPr>
          <a:xfrm>
            <a:off x="102870" y="2861945"/>
            <a:ext cx="756285" cy="12954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219075" y="3023235"/>
            <a:ext cx="640080" cy="12700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00" name="文本框 1"/>
          <p:cNvSpPr txBox="1"/>
          <p:nvPr/>
        </p:nvSpPr>
        <p:spPr>
          <a:xfrm>
            <a:off x="-3810" y="746125"/>
            <a:ext cx="9124950" cy="67564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</a:rPr>
              <a:t>采购申请单用途：</a:t>
            </a:r>
            <a:r>
              <a:rPr lang="zh-CN" altLang="en-US" sz="14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严格控制订单需要购买的材料（</a:t>
            </a:r>
            <a:r>
              <a:rPr lang="zh-CN" altLang="en-US" sz="1400" dirty="0" smtClean="0">
                <a:sym typeface="+mn-ea"/>
              </a:rPr>
              <a:t>买多少物料、到哪里买、多少资金预算，预算交期</a:t>
            </a:r>
            <a:endParaRPr lang="zh-CN" altLang="en-US" sz="1400" dirty="0" smtClean="0">
              <a:sym typeface="+mn-ea"/>
            </a:endParaRPr>
          </a:p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400" dirty="0" smtClean="0">
                <a:sym typeface="+mn-ea"/>
              </a:rPr>
              <a:t> ）。通俗：批数量、批供应商、 批单价、批交期。</a:t>
            </a:r>
            <a:r>
              <a:rPr lang="zh-CN" altLang="en-US" sz="1400" dirty="0">
                <a:sym typeface="+mn-ea"/>
              </a:rPr>
              <a:t>。</a:t>
            </a:r>
            <a:endParaRPr lang="zh-CN" altLang="en-US" sz="14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101" name="文本框 1"/>
          <p:cNvSpPr txBox="1"/>
          <p:nvPr/>
        </p:nvSpPr>
        <p:spPr>
          <a:xfrm>
            <a:off x="12065" y="1353185"/>
            <a:ext cx="8917940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</a:rPr>
              <a:t>方法</a:t>
            </a:r>
            <a:r>
              <a:rPr lang="en-US" altLang="zh-CN" sz="1600" b="1" dirty="0">
                <a:latin typeface="Calibri" panose="020F0502020204030204" charset="0"/>
                <a:ea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</a:rPr>
              <a:t>（无来源单据：手工输入）操作方法如下：</a:t>
            </a:r>
            <a:endParaRPr lang="zh-CN" altLang="en-US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102" name="文本框 1"/>
          <p:cNvSpPr txBox="1"/>
          <p:nvPr/>
        </p:nvSpPr>
        <p:spPr>
          <a:xfrm>
            <a:off x="-2540" y="1690370"/>
            <a:ext cx="9124315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步：通过主菜单→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点【 采购管理】→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2.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【采购申请单】。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                    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7" name="矩形标注 6"/>
          <p:cNvSpPr/>
          <p:nvPr/>
        </p:nvSpPr>
        <p:spPr>
          <a:xfrm>
            <a:off x="1586865" y="3150870"/>
            <a:ext cx="1352550" cy="360680"/>
          </a:xfrm>
          <a:prstGeom prst="wedgeRectCallout">
            <a:avLst>
              <a:gd name="adj1" fmla="val -102629"/>
              <a:gd name="adj2" fmla="val -737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点采购申请单</a:t>
            </a:r>
            <a:endParaRPr lang="zh-CN" altLang="zh-CN" sz="1200" strike="noStrike" noProof="1">
              <a:solidFill>
                <a:schemeClr val="tx1"/>
              </a:solidFill>
            </a:endParaRPr>
          </a:p>
        </p:txBody>
      </p:sp>
      <p:sp>
        <p:nvSpPr>
          <p:cNvPr id="3" name="矩形标注 2"/>
          <p:cNvSpPr/>
          <p:nvPr/>
        </p:nvSpPr>
        <p:spPr>
          <a:xfrm>
            <a:off x="1659890" y="2399665"/>
            <a:ext cx="1144905" cy="335280"/>
          </a:xfrm>
          <a:prstGeom prst="wedgeRectCallout">
            <a:avLst>
              <a:gd name="adj1" fmla="val -120493"/>
              <a:gd name="adj2" fmla="val 108143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点采购管理</a:t>
            </a:r>
            <a:endParaRPr lang="zh-CN" altLang="en-US" sz="120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3" grpId="0" bldLvl="0" animBg="1"/>
      <p:bldP spid="30" grpId="0" bldLvl="0" animBg="1"/>
      <p:bldP spid="7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2736214" y="141605"/>
            <a:ext cx="49321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采购管理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采购申请单</a:t>
            </a:r>
            <a:endParaRPr lang="zh-CN" altLang="en-US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3810" y="734060"/>
            <a:ext cx="913955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插入行→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在子表内输入相关信息（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物料名称：双击物料名称，在弹出框中找到需要订购的物料。如果没有，需要新增物料。详见物料资料说明。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供应商、申请数量、首次批准数量、批准采购单价、交货日期等）→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点保存→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勾选需要审核的物料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点审核（审核权限参考权限表）。</a:t>
            </a:r>
            <a:endParaRPr lang="en-US" altLang="zh-CN" sz="12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" y="1456690"/>
            <a:ext cx="8905240" cy="532003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5750" y="3001645"/>
            <a:ext cx="8593455" cy="33401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标注 6"/>
          <p:cNvSpPr/>
          <p:nvPr/>
        </p:nvSpPr>
        <p:spPr>
          <a:xfrm>
            <a:off x="5635625" y="1550035"/>
            <a:ext cx="1653540" cy="405130"/>
          </a:xfrm>
          <a:prstGeom prst="wedgeRectCallout">
            <a:avLst>
              <a:gd name="adj1" fmla="val -79723"/>
              <a:gd name="adj2" fmla="val 8025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4.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勾选需要审核的物料点审核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" name="矩形标注 9"/>
          <p:cNvSpPr/>
          <p:nvPr/>
        </p:nvSpPr>
        <p:spPr>
          <a:xfrm>
            <a:off x="1418590" y="3502660"/>
            <a:ext cx="6732905" cy="306705"/>
          </a:xfrm>
          <a:prstGeom prst="wedgeRectCallout">
            <a:avLst>
              <a:gd name="adj1" fmla="val -32580"/>
              <a:gd name="adj2" fmla="val -9154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在子表内输入相关信息（如：不订购、供应商、首次批准数量、批准采购单价、交货日期等）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" name="矩形标注 10"/>
          <p:cNvSpPr/>
          <p:nvPr/>
        </p:nvSpPr>
        <p:spPr>
          <a:xfrm>
            <a:off x="4016375" y="1666240"/>
            <a:ext cx="832485" cy="288925"/>
          </a:xfrm>
          <a:prstGeom prst="wedgeRectCallout">
            <a:avLst>
              <a:gd name="adj1" fmla="val 39168"/>
              <a:gd name="adj2" fmla="val 98791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3.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点保存</a:t>
            </a:r>
            <a:endParaRPr lang="en-US" altLang="zh-CN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6445" y="2068195"/>
            <a:ext cx="333375" cy="15684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943475" y="2068195"/>
            <a:ext cx="395605" cy="15748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20"/>
          <p:cNvSpPr txBox="1"/>
          <p:nvPr/>
        </p:nvSpPr>
        <p:spPr>
          <a:xfrm>
            <a:off x="99060" y="4065905"/>
            <a:ext cx="8905240" cy="250698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pPr algn="l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★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物料名称：双击物料名称，在弹出框中找到需要订购的物料。如果没有，需要新增物料。详见物料资料说明。</a:t>
            </a:r>
            <a:endParaRPr 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供应商、供方货号、供应商单价：默认带出【物料供应商资料】中设置的主供应商信息（供方货号，采购单价），可进行手工修改。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、双击订单号表，可以关联销售订货单。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、申请数量：手工输入需购买的数量。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、首次批准数量：默认等于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申请数量。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、现有库存、可用库存：来源于【销售订货单】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【物料明细】页版内的数据。双击可查看现有库存与可用库存。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、批准采购单价：当系统参数设置采购订货单单价来源于批准单价时，此处输入的单价会自动带入到采购订货单中。当采购订货单中单价超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   过批准采购单价时，系统会提示需要特权密码审核后才允许通过。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、参考进价、参考金额：为了做订单物料金额预算。数据来源于物料资料的参考进价，参考金额会自动计算。如物料资料参考进价有修改，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   可点刷新</a:t>
            </a:r>
            <a:r>
              <a:rPr lang="zh-CN" altLang="en-US" sz="11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→刷新参考进价，系统会根据刷新后的参考进价重新计算参考金额。</a:t>
            </a:r>
            <a:endParaRPr lang="zh-CN" altLang="en-US" sz="11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9</a:t>
            </a:r>
            <a:r>
              <a:rPr lang="zh-CN" altLang="en-US" sz="11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、采购申请单内可按实际需要进行物料分批审核。（如：先确定的部分材料，可以先审核进行购买）</a:t>
            </a:r>
            <a:endParaRPr lang="zh-CN" altLang="en-US" sz="11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10</a:t>
            </a:r>
            <a:r>
              <a:rPr lang="zh-CN" altLang="en-US" sz="11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、在物料资料中设定采购员后，在此处可以分采购员申请。</a:t>
            </a:r>
            <a:endParaRPr lang="zh-CN" altLang="en-US" sz="11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、核对：勾选了核对后，字体会变为绿色。表示此条数据经过确认。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825240" y="2068830"/>
            <a:ext cx="404495" cy="15557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标注 3"/>
          <p:cNvSpPr/>
          <p:nvPr/>
        </p:nvSpPr>
        <p:spPr>
          <a:xfrm>
            <a:off x="2736215" y="1607820"/>
            <a:ext cx="957580" cy="288925"/>
          </a:xfrm>
          <a:prstGeom prst="wedgeRectCallout">
            <a:avLst>
              <a:gd name="adj1" fmla="val 63461"/>
              <a:gd name="adj2" fmla="val 123626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点插入行</a:t>
            </a:r>
            <a:endParaRPr lang="en-US" altLang="zh-CN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2" grpId="0" bldLvl="0" animBg="1"/>
      <p:bldP spid="6" grpId="0" bldLvl="0" animBg="1"/>
      <p:bldP spid="10" grpId="0" bldLvl="0" animBg="1"/>
      <p:bldP spid="12" grpId="0" bldLvl="0" animBg="1"/>
      <p:bldP spid="11" grpId="0" bldLvl="0" animBg="1"/>
      <p:bldP spid="13" grpId="0" bldLvl="0" animBg="1"/>
      <p:bldP spid="7" grpId="0" bldLvl="0" animBg="1"/>
      <p:bldP spid="15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95" y="1234440"/>
            <a:ext cx="8905240" cy="5391150"/>
          </a:xfrm>
          <a:prstGeom prst="rect">
            <a:avLst/>
          </a:prstGeom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2736214" y="141605"/>
            <a:ext cx="49321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采购管理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采购申请单</a:t>
            </a:r>
            <a:endParaRPr lang="zh-CN" altLang="en-US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9695" y="772160"/>
            <a:ext cx="89014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采购申请单打印报表操作：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点报表→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选中所需打印的表格→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点打开或保存→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5.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点确定（系统自动将数据写入到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EXCEL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中打印）。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8584731" y="6678766"/>
            <a:ext cx="59499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000" b="1" dirty="0" smtClean="0"/>
              <a:t>第 </a:t>
            </a:r>
            <a:r>
              <a:rPr lang="en-US" altLang="zh-CN" sz="1000" b="1" dirty="0" smtClean="0"/>
              <a:t>11</a:t>
            </a:r>
            <a:r>
              <a:rPr lang="zh-CN" altLang="en-US" sz="1000" b="1" dirty="0" smtClean="0"/>
              <a:t>页</a:t>
            </a:r>
            <a:endParaRPr lang="zh-CN" altLang="en-US" sz="1000" b="1" dirty="0" smtClean="0"/>
          </a:p>
        </p:txBody>
      </p:sp>
      <p:sp>
        <p:nvSpPr>
          <p:cNvPr id="13" name="矩形标注 12"/>
          <p:cNvSpPr/>
          <p:nvPr/>
        </p:nvSpPr>
        <p:spPr>
          <a:xfrm>
            <a:off x="1375410" y="1490345"/>
            <a:ext cx="822325" cy="247015"/>
          </a:xfrm>
          <a:prstGeom prst="wedgeRectCallout">
            <a:avLst>
              <a:gd name="adj1" fmla="val -85366"/>
              <a:gd name="adj2" fmla="val 103984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点报表</a:t>
            </a:r>
            <a:endParaRPr lang="en-US" altLang="zh-CN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5" name="矩形标注 14"/>
          <p:cNvSpPr/>
          <p:nvPr/>
        </p:nvSpPr>
        <p:spPr>
          <a:xfrm>
            <a:off x="1690370" y="1604645"/>
            <a:ext cx="1045845" cy="437515"/>
          </a:xfrm>
          <a:prstGeom prst="wedgeRectCallout">
            <a:avLst>
              <a:gd name="adj1" fmla="val -61778"/>
              <a:gd name="adj2" fmla="val 86865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选中需打印的表格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60400" y="1847215"/>
            <a:ext cx="436245" cy="14160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0"/>
          <p:cNvSpPr txBox="1"/>
          <p:nvPr/>
        </p:nvSpPr>
        <p:spPr>
          <a:xfrm>
            <a:off x="270510" y="5406390"/>
            <a:ext cx="8314690" cy="98361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、采购申请单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、采购申请单（不汇总通用版）：按物料明细显示报表。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、采购申请单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、采购申请单（汇总通用版）：按物料汇总显示报表。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、采购申请单变更记录表（通用版）：用于发生变更时打印。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</a:t>
            </a:r>
            <a:r>
              <a:rPr lang="zh-CN" sz="110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此报表适用于采购申请中只有一张订单且订单中只有一个款的情况，其它情况的不会在第四行显示订单号、款号和订单数量。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10" y="2007235"/>
            <a:ext cx="892175" cy="1282700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660400" y="2042160"/>
            <a:ext cx="895985" cy="123825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1990" y="2637790"/>
            <a:ext cx="3313430" cy="2392680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3504565" y="3903345"/>
            <a:ext cx="2853690" cy="37592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标注 20"/>
          <p:cNvSpPr/>
          <p:nvPr/>
        </p:nvSpPr>
        <p:spPr>
          <a:xfrm>
            <a:off x="4785995" y="3549015"/>
            <a:ext cx="1508760" cy="259080"/>
          </a:xfrm>
          <a:prstGeom prst="wedgeRectCallout">
            <a:avLst>
              <a:gd name="adj1" fmla="val -55768"/>
              <a:gd name="adj2" fmla="val 86865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3.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点打开或保存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156835" y="4662805"/>
            <a:ext cx="619125" cy="25717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标注 21"/>
          <p:cNvSpPr/>
          <p:nvPr/>
        </p:nvSpPr>
        <p:spPr>
          <a:xfrm>
            <a:off x="6026785" y="4403725"/>
            <a:ext cx="855345" cy="259080"/>
          </a:xfrm>
          <a:prstGeom prst="wedgeRectCallout">
            <a:avLst>
              <a:gd name="adj1" fmla="val -82887"/>
              <a:gd name="adj2" fmla="val 7303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4.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点确定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6" grpId="0" bldLvl="0" animBg="1"/>
      <p:bldP spid="27" grpId="0" bldLvl="0" animBg="1"/>
      <p:bldP spid="15" grpId="0" bldLvl="0" animBg="1"/>
      <p:bldP spid="19" grpId="0" bldLvl="0" animBg="1"/>
      <p:bldP spid="21" grpId="0" bldLvl="0" animBg="1"/>
      <p:bldP spid="20" grpId="0" bldLvl="0" animBg="1"/>
      <p:bldP spid="22" grpId="0" bldLvl="0" animBg="1"/>
      <p:bldP spid="25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extBox 22"/>
          <p:cNvSpPr txBox="1"/>
          <p:nvPr/>
        </p:nvSpPr>
        <p:spPr>
          <a:xfrm>
            <a:off x="2517140" y="149543"/>
            <a:ext cx="4110038" cy="52197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采购管理</a:t>
            </a:r>
            <a:r>
              <a:rPr kumimoji="0" lang="en-US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-</a:t>
            </a:r>
            <a:r>
              <a:rPr kumimoji="0" lang="zh-CN" altLang="en-US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采购订货单</a:t>
            </a:r>
            <a:endParaRPr kumimoji="0" lang="zh-CN" altLang="en-US" sz="2800" b="1" kern="1200" cap="none" spc="0" normalizeH="0" baseline="0" noProof="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4850"/>
            <a:ext cx="9144000" cy="412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14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-1587"/>
            <a:ext cx="189865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6" name="文本框 1"/>
          <p:cNvSpPr txBox="1"/>
          <p:nvPr/>
        </p:nvSpPr>
        <p:spPr>
          <a:xfrm>
            <a:off x="177800" y="925513"/>
            <a:ext cx="8580438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800" b="1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采购订货单操作方法：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6" name="文本框 1"/>
          <p:cNvSpPr txBox="1"/>
          <p:nvPr/>
        </p:nvSpPr>
        <p:spPr>
          <a:xfrm>
            <a:off x="125095" y="3039745"/>
            <a:ext cx="174561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000" dirty="0">
                <a:latin typeface="Calibri" panose="020F0502020204030204" charset="0"/>
                <a:ea typeface="宋体" panose="02010600030101010101" pitchFamily="2" charset="-122"/>
                <a:sym typeface="宋体" panose="02010600030101010101" pitchFamily="2" charset="-122"/>
              </a:rPr>
              <a:t>采购订货单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" name="左大括号 1"/>
          <p:cNvSpPr/>
          <p:nvPr/>
        </p:nvSpPr>
        <p:spPr>
          <a:xfrm>
            <a:off x="1664970" y="1667510"/>
            <a:ext cx="467360" cy="3133090"/>
          </a:xfrm>
          <a:prstGeom prst="leftBrace">
            <a:avLst>
              <a:gd name="adj1" fmla="val 32376"/>
              <a:gd name="adj2" fmla="val 50000"/>
            </a:avLst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3" name="文本框 1"/>
          <p:cNvSpPr txBox="1"/>
          <p:nvPr/>
        </p:nvSpPr>
        <p:spPr>
          <a:xfrm>
            <a:off x="2132330" y="1447800"/>
            <a:ext cx="6625590" cy="4508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方法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：有来源单据（采购申请单）：用于按申请数量订购物料。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9" name="文本框 1"/>
          <p:cNvSpPr txBox="1"/>
          <p:nvPr/>
        </p:nvSpPr>
        <p:spPr>
          <a:xfrm>
            <a:off x="2061845" y="4612005"/>
            <a:ext cx="613029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方法</a:t>
            </a:r>
            <a:r>
              <a:rPr lang="en-US" altLang="zh-CN" dirty="0">
                <a:latin typeface="Calibri" panose="020F0502020204030204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Calibri" panose="020F0502020204030204" charset="0"/>
                <a:ea typeface="宋体" panose="02010600030101010101" pitchFamily="2" charset="-122"/>
              </a:rPr>
              <a:t>：无来源单据（手工输入）：用于物料批量订购。</a:t>
            </a:r>
            <a:endParaRPr lang="zh-CN" altLang="en-US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10" y="2099310"/>
            <a:ext cx="9018270" cy="453326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660" y="149860"/>
            <a:ext cx="90487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sym typeface="+mn-ea"/>
              </a:rPr>
              <a:t>采购管理</a:t>
            </a:r>
            <a:r>
              <a:rPr lang="en-US" altLang="zh-CN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采购订货单</a:t>
            </a:r>
            <a:endParaRPr lang="zh-CN" altLang="en-US" sz="2800" b="1" dirty="0" smtClean="0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矩形 19"/>
          <p:cNvSpPr/>
          <p:nvPr/>
        </p:nvSpPr>
        <p:spPr>
          <a:xfrm>
            <a:off x="102870" y="2986405"/>
            <a:ext cx="756285" cy="12954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219075" y="3365500"/>
            <a:ext cx="640080" cy="12700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00" name="文本框 1"/>
          <p:cNvSpPr txBox="1"/>
          <p:nvPr/>
        </p:nvSpPr>
        <p:spPr>
          <a:xfrm>
            <a:off x="-3810" y="746125"/>
            <a:ext cx="9124950" cy="11068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</a:rPr>
              <a:t>采购订货单用途：</a:t>
            </a:r>
            <a:r>
              <a:rPr lang="zh-CN" altLang="en-US" sz="14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来源于采购申请单的数据。采购订货单</a:t>
            </a:r>
            <a:r>
              <a:rPr lang="zh-CN" altLang="en-US" sz="1400" dirty="0">
                <a:sym typeface="+mn-ea"/>
              </a:rPr>
              <a:t>考虑到企业个性化管理，提供了单据自定义、报表自定义（如：采购合同），系统提供最高限价控制手段，通过物料供应商资料页版，实现物料与供应商关联（同一物料不同供应商）等多种功能，从而实现企业标准化流程，满足企业的个性化需求。</a:t>
            </a:r>
            <a:endParaRPr lang="zh-CN" altLang="en-US" sz="1400" dirty="0">
              <a:latin typeface="Calibri" panose="020F0502020204030204" charset="0"/>
              <a:ea typeface="宋体" panose="02010600030101010101" pitchFamily="2" charset="-122"/>
            </a:endParaRPr>
          </a:p>
          <a:p>
            <a:pPr eaLnBrk="0" hangingPunct="0">
              <a:buFont typeface="Arial" panose="020B0604020202020204" pitchFamily="34" charset="0"/>
              <a:buNone/>
            </a:pPr>
            <a:endParaRPr lang="zh-CN" altLang="en-US" sz="14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101" name="文本框 1"/>
          <p:cNvSpPr txBox="1"/>
          <p:nvPr/>
        </p:nvSpPr>
        <p:spPr>
          <a:xfrm>
            <a:off x="12065" y="1557655"/>
            <a:ext cx="8917940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</a:rPr>
              <a:t>方法</a:t>
            </a:r>
            <a:r>
              <a:rPr lang="en-US" altLang="zh-CN" sz="1600" b="1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</a:rPr>
              <a:t>（有来源单据：采购申请单）操作方法如下：</a:t>
            </a:r>
            <a:endParaRPr lang="zh-CN" altLang="en-US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102" name="文本框 1"/>
          <p:cNvSpPr txBox="1"/>
          <p:nvPr/>
        </p:nvSpPr>
        <p:spPr>
          <a:xfrm>
            <a:off x="-2540" y="1823720"/>
            <a:ext cx="9124315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步：通过主菜单→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点【 采购管理】→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2..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【采购订货单】。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                    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7" name="矩形标注 6"/>
          <p:cNvSpPr/>
          <p:nvPr/>
        </p:nvSpPr>
        <p:spPr>
          <a:xfrm>
            <a:off x="1556385" y="3421380"/>
            <a:ext cx="1352550" cy="360680"/>
          </a:xfrm>
          <a:prstGeom prst="wedgeRectCallout">
            <a:avLst>
              <a:gd name="adj1" fmla="val -102629"/>
              <a:gd name="adj2" fmla="val -46654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点采购订货单</a:t>
            </a:r>
            <a:endParaRPr lang="zh-CN" altLang="zh-CN" sz="1200" strike="noStrike" noProof="1">
              <a:solidFill>
                <a:schemeClr val="tx1"/>
              </a:solidFill>
            </a:endParaRPr>
          </a:p>
        </p:txBody>
      </p:sp>
      <p:sp>
        <p:nvSpPr>
          <p:cNvPr id="3" name="矩形标注 2"/>
          <p:cNvSpPr/>
          <p:nvPr/>
        </p:nvSpPr>
        <p:spPr>
          <a:xfrm>
            <a:off x="1659890" y="2524125"/>
            <a:ext cx="1144905" cy="335280"/>
          </a:xfrm>
          <a:prstGeom prst="wedgeRectCallout">
            <a:avLst>
              <a:gd name="adj1" fmla="val -120493"/>
              <a:gd name="adj2" fmla="val 108143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点采购管理</a:t>
            </a:r>
            <a:endParaRPr lang="zh-CN" altLang="en-US" sz="120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3" grpId="0" bldLvl="0" animBg="1"/>
      <p:bldP spid="30" grpId="0" bldLvl="0" animBg="1"/>
      <p:bldP spid="7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620" y="1304925"/>
            <a:ext cx="8905240" cy="55073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225" y="2176145"/>
            <a:ext cx="5913120" cy="33858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736214" y="141605"/>
            <a:ext cx="49321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采购管理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采购订货单</a:t>
            </a:r>
            <a:endParaRPr lang="zh-CN" altLang="en-US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3810" y="734060"/>
            <a:ext cx="913955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点选择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在弹出框内输入筛选条件（如：订单号、款号等）按回车→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勾选需要订购的物料→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点确定或添加到单据后系统会自动跳转到采购订货单页面。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" name="矩形标注 7"/>
          <p:cNvSpPr/>
          <p:nvPr/>
        </p:nvSpPr>
        <p:spPr>
          <a:xfrm>
            <a:off x="2512060" y="1390015"/>
            <a:ext cx="868680" cy="290830"/>
          </a:xfrm>
          <a:prstGeom prst="wedgeRectCallout">
            <a:avLst>
              <a:gd name="adj1" fmla="val 52997"/>
              <a:gd name="adj2" fmla="val 13449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</a:t>
            </a:r>
            <a:r>
              <a:rPr lang="zh-CN" altLang="zh-CN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选择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99155" y="1934845"/>
            <a:ext cx="367665" cy="15684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2386965" y="2314575"/>
            <a:ext cx="5757545" cy="63563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340610" y="3178810"/>
            <a:ext cx="5768975" cy="48768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7010400" y="5368925"/>
            <a:ext cx="843915" cy="19240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标注 25"/>
          <p:cNvSpPr/>
          <p:nvPr/>
        </p:nvSpPr>
        <p:spPr>
          <a:xfrm>
            <a:off x="6516370" y="1425575"/>
            <a:ext cx="1628140" cy="666115"/>
          </a:xfrm>
          <a:prstGeom prst="wedgeRectCallout">
            <a:avLst>
              <a:gd name="adj1" fmla="val -32215"/>
              <a:gd name="adj2" fmla="val 8203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弹出框内输入筛选条件（如：订单号、款号等）按回车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7" name="矩形标注 26"/>
          <p:cNvSpPr/>
          <p:nvPr/>
        </p:nvSpPr>
        <p:spPr>
          <a:xfrm>
            <a:off x="3185160" y="3867150"/>
            <a:ext cx="2449830" cy="199390"/>
          </a:xfrm>
          <a:prstGeom prst="wedgeRectCallout">
            <a:avLst>
              <a:gd name="adj1" fmla="val -38646"/>
              <a:gd name="adj2" fmla="val -140764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3.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勾选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需要订购的物料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8" name="矩形标注 27"/>
          <p:cNvSpPr/>
          <p:nvPr/>
        </p:nvSpPr>
        <p:spPr>
          <a:xfrm>
            <a:off x="7373620" y="4457065"/>
            <a:ext cx="1298575" cy="443865"/>
          </a:xfrm>
          <a:prstGeom prst="wedgeRectCallout">
            <a:avLst>
              <a:gd name="adj1" fmla="val -25207"/>
              <a:gd name="adj2" fmla="val 14341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4.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点确定或添加到单据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9" name="文本框 20"/>
          <p:cNvSpPr txBox="1"/>
          <p:nvPr/>
        </p:nvSpPr>
        <p:spPr>
          <a:xfrm>
            <a:off x="198120" y="5450205"/>
            <a:ext cx="6544945" cy="132207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pPr algn="l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sz="1100" dirty="0">
                <a:latin typeface="宋体" panose="02010600030101010101" pitchFamily="2" charset="-122"/>
                <a:ea typeface="宋体" panose="02010600030101010101" pitchFamily="2" charset="-122"/>
              </a:rPr>
              <a:t>1、启用日期：启用日期没有勾选，查找范围就不受时间限制。</a:t>
            </a:r>
            <a:endParaRPr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sz="1100" dirty="0">
                <a:latin typeface="宋体" panose="02010600030101010101" pitchFamily="2" charset="-122"/>
                <a:ea typeface="宋体" panose="02010600030101010101" pitchFamily="2" charset="-122"/>
              </a:rPr>
              <a:t>3、是否选择整张单：勾选后系统会自动选中同一张采购订货单未入仓的数据。</a:t>
            </a:r>
            <a:endParaRPr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sz="1100" dirty="0">
                <a:latin typeface="宋体" panose="02010600030101010101" pitchFamily="2" charset="-122"/>
                <a:ea typeface="宋体" panose="02010600030101010101" pitchFamily="2" charset="-122"/>
              </a:rPr>
              <a:t>4、</a:t>
            </a:r>
            <a:r>
              <a:rPr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★</a:t>
            </a:r>
            <a:r>
              <a:rPr sz="1100" dirty="0">
                <a:latin typeface="宋体" panose="02010600030101010101" pitchFamily="2" charset="-122"/>
                <a:ea typeface="宋体" panose="02010600030101010101" pitchFamily="2" charset="-122"/>
              </a:rPr>
              <a:t>是否选择同一客商：勾选后系统会自动选中同一个供应商未入仓的数据。</a:t>
            </a:r>
            <a:endParaRPr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sz="1100" dirty="0">
                <a:latin typeface="宋体" panose="02010600030101010101" pitchFamily="2" charset="-122"/>
                <a:ea typeface="宋体" panose="02010600030101010101" pitchFamily="2" charset="-122"/>
              </a:rPr>
              <a:t>5、</a:t>
            </a:r>
            <a:r>
              <a:rPr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★</a:t>
            </a:r>
            <a:r>
              <a:rPr sz="1100" dirty="0">
                <a:latin typeface="宋体" panose="02010600030101010101" pitchFamily="2" charset="-122"/>
                <a:ea typeface="宋体" panose="02010600030101010101" pitchFamily="2" charset="-122"/>
              </a:rPr>
              <a:t>添加到单据与确定的区别：当需要选择多个物料时，点添加到单据；如果只有一个物料，就点确定。</a:t>
            </a:r>
            <a:endParaRPr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、当在物料资料中设定了采购员，勾选我要采购的物料，系统会自动显示此操作员需要购买的物料。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、一张采购订货单上只允许开同一个供应商的物料订购。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21" grpId="0" bldLvl="0" animBg="1"/>
      <p:bldP spid="26" grpId="0" bldLvl="0" animBg="1"/>
      <p:bldP spid="22" grpId="0" bldLvl="0" animBg="1"/>
      <p:bldP spid="27" grpId="0" bldLvl="0" animBg="1"/>
      <p:bldP spid="28" grpId="0" bldLvl="0" animBg="1"/>
      <p:bldP spid="25" grpId="0" bldLvl="0" animBg="1"/>
      <p:bldP spid="29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95" y="1327785"/>
            <a:ext cx="8914765" cy="5339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736214" y="141605"/>
            <a:ext cx="49321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采购管理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采购订货单</a:t>
            </a:r>
            <a:endParaRPr lang="zh-CN" altLang="en-US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3810" y="734060"/>
            <a:ext cx="913955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在主表内输入相关信息（供应商、交货日期等）→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在子表内输入相关信息（采购单价、数量等）→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点保存→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4.点审核（审核权限参考权限表）。</a:t>
            </a:r>
            <a:endParaRPr lang="en-US" altLang="zh-CN" sz="12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0350" y="2135505"/>
            <a:ext cx="8753475" cy="49530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标注 6"/>
          <p:cNvSpPr/>
          <p:nvPr/>
        </p:nvSpPr>
        <p:spPr>
          <a:xfrm>
            <a:off x="5804535" y="1524000"/>
            <a:ext cx="830580" cy="288925"/>
          </a:xfrm>
          <a:prstGeom prst="wedgeRectCallout">
            <a:avLst>
              <a:gd name="adj1" fmla="val -77599"/>
              <a:gd name="adj2" fmla="val 117472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4.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点审核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" name="矩形标注 9"/>
          <p:cNvSpPr/>
          <p:nvPr/>
        </p:nvSpPr>
        <p:spPr>
          <a:xfrm>
            <a:off x="260350" y="1635125"/>
            <a:ext cx="3514090" cy="306705"/>
          </a:xfrm>
          <a:prstGeom prst="wedgeRectCallout">
            <a:avLst>
              <a:gd name="adj1" fmla="val -14510"/>
              <a:gd name="adj2" fmla="val 10962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在主表内输入相关信息（供应商、交货日期等）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" name="矩形标注 10"/>
          <p:cNvSpPr/>
          <p:nvPr/>
        </p:nvSpPr>
        <p:spPr>
          <a:xfrm>
            <a:off x="4274185" y="1524000"/>
            <a:ext cx="832485" cy="288925"/>
          </a:xfrm>
          <a:prstGeom prst="wedgeRectCallout">
            <a:avLst>
              <a:gd name="adj1" fmla="val 39168"/>
              <a:gd name="adj2" fmla="val 98791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3.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点保存</a:t>
            </a:r>
            <a:endParaRPr lang="en-US" altLang="zh-CN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98695" y="1925955"/>
            <a:ext cx="351155" cy="15811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83505" y="1925955"/>
            <a:ext cx="395605" cy="15748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标注 7"/>
          <p:cNvSpPr/>
          <p:nvPr/>
        </p:nvSpPr>
        <p:spPr>
          <a:xfrm>
            <a:off x="1675765" y="3924300"/>
            <a:ext cx="3514090" cy="306705"/>
          </a:xfrm>
          <a:prstGeom prst="wedgeRectCallout">
            <a:avLst>
              <a:gd name="adj1" fmla="val -29779"/>
              <a:gd name="adj2" fmla="val -13530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在子表内输入相关信息（采购单价、数量等）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60985" y="3309620"/>
            <a:ext cx="8752205" cy="35306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20"/>
          <p:cNvSpPr txBox="1"/>
          <p:nvPr/>
        </p:nvSpPr>
        <p:spPr>
          <a:xfrm>
            <a:off x="27940" y="4253865"/>
            <a:ext cx="9074150" cy="27273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pPr algn="l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、交货方式、交货地址、币种、税率、扣税类型、结算方式：在供应商资料里设定后，会自动带出，可手工修改。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、供应商：默认情况下带出采购申请单输入的供应商，可手工修改。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、定金、现金账户、银行账户：当需要付定金时输入，财务审核后，会产生对应的预付款，财务做付款单时，可用定金冲账。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、报表序号：</a:t>
            </a:r>
            <a:r>
              <a:rPr 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输入不同的序号，可导出不同类型条款的采购订货单（需要在模板中</a:t>
            </a:r>
            <a:r>
              <a:rPr lang="zh-CN" sz="1100" dirty="0">
                <a:latin typeface="宋体" panose="02010600030101010101" pitchFamily="2" charset="-122"/>
                <a:sym typeface="+mn-ea"/>
              </a:rPr>
              <a:t>先</a:t>
            </a:r>
            <a:r>
              <a:rPr 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设定条款）。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、数量、单价：默认带出采购申请单输入的首次批准数量和批准单价，可手工修改。当单价超过设定的单价时，系统会提示用特权密码审核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   通过，同时系统也会记录使用特权密码的通过的次数和金额。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、允许超收数量、允许超收比例：</a:t>
            </a:r>
            <a:r>
              <a:rPr 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用于设置仓库允许超收比例或数量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当入仓数量大于订购数量的超收范围时，需用特权密码才能通过（在   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参数设置启用后生效）。</a:t>
            </a:r>
            <a:endParaRPr sz="110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、交货日期：当同一张采购订货单内的物料有不同交期时，才需使用。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、回复交期、回复原因：供应商回复的实际交期及原因说明。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、报价单价：报价单价来源于【产品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BOM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【报价资料】页版输入的物料报价单价，系统可设置采购单价不允许超过报价单价。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最高采购单价、最低采购单价：系统自动记录物料的最低采购单价与最高采购单价，系统可设置采购单价不允许超过最高采购单价。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、单价：双击单价可以看到历史采购单价。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、采购结算单位、采购结算单位系数：在【物料供应商资料】中设定后，会自动带入，可手工修改。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  <p:bldP spid="9" grpId="0" bldLvl="0" animBg="1"/>
      <p:bldP spid="8" grpId="0" bldLvl="0" animBg="1"/>
      <p:bldP spid="11" grpId="0" bldLvl="0" animBg="1"/>
      <p:bldP spid="12" grpId="0" bldLvl="0" animBg="1"/>
      <p:bldP spid="13" grpId="0" bldLvl="0" animBg="1"/>
      <p:bldP spid="7" grpId="0" bldLvl="0" animBg="1"/>
      <p:bldP spid="14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extBox 22"/>
          <p:cNvSpPr txBox="1"/>
          <p:nvPr/>
        </p:nvSpPr>
        <p:spPr>
          <a:xfrm>
            <a:off x="2330450" y="74613"/>
            <a:ext cx="4943475" cy="522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采购管理</a:t>
            </a:r>
            <a:r>
              <a:rPr kumimoji="0" lang="en-US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-</a:t>
            </a:r>
            <a:r>
              <a:rPr kumimoji="0" lang="zh-CN" altLang="en-US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采购订货单</a:t>
            </a:r>
            <a:endParaRPr kumimoji="0" lang="zh-CN" altLang="en-US" sz="2800" b="1" kern="1200" cap="none" spc="0" normalizeH="0" baseline="0" noProof="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4850"/>
            <a:ext cx="9144000" cy="412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433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-1587"/>
            <a:ext cx="189865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40" name="文本框 2"/>
          <p:cNvSpPr txBox="1"/>
          <p:nvPr/>
        </p:nvSpPr>
        <p:spPr>
          <a:xfrm>
            <a:off x="0" y="746125"/>
            <a:ext cx="91344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采购订货单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主表字段解释：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69" name="文本框 2"/>
          <p:cNvSpPr txBox="1"/>
          <p:nvPr/>
        </p:nvSpPr>
        <p:spPr>
          <a:xfrm>
            <a:off x="67628" y="1042670"/>
            <a:ext cx="8897938" cy="3600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lnSpc>
                <a:spcPct val="13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采购单号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可根据编码规则设定自动生成或手工编写，不允许重复，重复无法保存。</a:t>
            </a:r>
            <a:endParaRPr sz="1350" noProof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采购日期、交货日期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记录采购订购日期及要求供应商交货日期。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采购员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记录采购订货单有谁去采购的。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交货方式、交货地址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要求供应商的交货方式及地址，客商资料中输入后，可自动带出。</a:t>
            </a:r>
            <a:endParaRPr sz="1350" noProof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供应商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altLang="en-US" sz="1350" dirty="0">
                <a:latin typeface="宋体" panose="02010600030101010101" pitchFamily="2" charset="-122"/>
                <a:sym typeface="+mn-ea"/>
              </a:rPr>
              <a:t>默认情况下带出采购申请单输入的供应商，可手工修改。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币种、汇率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与供应商结算使用的币种。客商资料中输入后，可自动带出。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扣税类型、税率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采购订购单供应商订购材料的含税类型及税率，客商资料中输入后，可自动带出。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结算日期、结算方式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与供应商谈好的结算日期、结算方式，客商资料中输入后，可自动带出。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备注、备注</a:t>
            </a:r>
            <a:r>
              <a:rPr lang="en-US" alt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2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针对整张采购订货单的备注说明。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定金、银行账户、现金账户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altLang="en-US" sz="1350" dirty="0">
                <a:latin typeface="宋体" panose="02010600030101010101" pitchFamily="2" charset="-122"/>
                <a:sym typeface="+mn-ea"/>
              </a:rPr>
              <a:t>当需要付定金时输入，财务审核后，会产生对应的预付款，财务做付款单时，可用</a:t>
            </a:r>
            <a:endParaRPr lang="zh-CN" altLang="en-US" sz="1350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350" dirty="0">
                <a:latin typeface="宋体" panose="02010600030101010101" pitchFamily="2" charset="-122"/>
                <a:sym typeface="+mn-ea"/>
              </a:rPr>
              <a:t>                            定金冲账。</a:t>
            </a:r>
            <a:endParaRPr sz="1350" b="1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sz="120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加工商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要求供应商物料送到那家加工商。适用于订购材料后，直接送到加工厂的模式。</a:t>
            </a:r>
            <a:endParaRPr lang="zh-CN" sz="1350" noProof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报表序号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输入不同的序号，可导出不同类型条款的采购订货单（需要在模板中</a:t>
            </a:r>
            <a:r>
              <a:rPr lang="zh-CN" sz="1350" dirty="0">
                <a:latin typeface="宋体" panose="02010600030101010101" pitchFamily="2" charset="-122"/>
                <a:sym typeface="+mn-ea"/>
              </a:rPr>
              <a:t>先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设定条款）。</a:t>
            </a:r>
            <a:endParaRPr lang="zh-CN" sz="1350" noProof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extBox 22"/>
          <p:cNvSpPr txBox="1"/>
          <p:nvPr/>
        </p:nvSpPr>
        <p:spPr>
          <a:xfrm>
            <a:off x="2330450" y="74613"/>
            <a:ext cx="4943475" cy="522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采购管理</a:t>
            </a:r>
            <a:r>
              <a:rPr kumimoji="0" lang="en-US" altLang="zh-CN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-</a:t>
            </a:r>
            <a:r>
              <a:rPr kumimoji="0" lang="zh-CN" altLang="en-US" sz="2800" b="1" kern="1200" cap="none" spc="0" normalizeH="0" baseline="0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采购订货单</a:t>
            </a:r>
            <a:endParaRPr kumimoji="0" lang="zh-CN" altLang="en-US" sz="2800" b="1" kern="1200" cap="none" spc="0" normalizeH="0" baseline="0" noProof="0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4850"/>
            <a:ext cx="9144000" cy="412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638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-1587"/>
            <a:ext cx="189865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文本框 2"/>
          <p:cNvSpPr txBox="1"/>
          <p:nvPr/>
        </p:nvSpPr>
        <p:spPr>
          <a:xfrm>
            <a:off x="71438" y="740410"/>
            <a:ext cx="8897938" cy="5146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lnSpc>
                <a:spcPct val="100000"/>
              </a:lnSpc>
            </a:pP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采购订货单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采购明细页版字段解释：</a:t>
            </a:r>
            <a:endParaRPr lang="zh-CN" altLang="en-US" sz="135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{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我要催、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催次、被催次}：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记录催人家的次数及人家催我的次数，可在工作台显示。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*订单号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、</a:t>
            </a:r>
            <a:r>
              <a:rPr lang="zh-CN" altLang="en-US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款号列表、客户款号列表、客户产品名称列表、子单编号列表、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客户单号</a:t>
            </a:r>
            <a:r>
              <a:rPr lang="zh-CN" altLang="en-US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altLang="en-US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记录订单材料使用在哪</a:t>
            </a:r>
            <a:endParaRPr lang="zh-CN" altLang="en-US" sz="1350" noProof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zh-CN" altLang="en-US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      些订单、哪些款上。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{物料分类、物料编号、物料名称、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旧编号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、</a:t>
            </a:r>
            <a:r>
              <a:rPr lang="zh-CN" altLang="en-US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规格、颜色、</a:t>
            </a:r>
            <a:r>
              <a:rPr lang="zh-CN" altLang="en-US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起订量</a:t>
            </a:r>
            <a:r>
              <a:rPr lang="zh-CN" altLang="en-US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}：</a:t>
            </a:r>
            <a:r>
              <a:rPr lang="zh-CN" altLang="en-US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记录关联的物料信息，在物料资料中增加好</a:t>
            </a:r>
            <a:endParaRPr lang="zh-CN" altLang="en-US" sz="1350" noProof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zh-CN" altLang="en-US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     后可自动带出。可作为采购订货单查询条件。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{供方货号}：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供应商的物料名称或货号，可在供应商物料资料中设定后，在此自动显示。或在此处填写后，当材</a:t>
            </a:r>
            <a:endParaRPr lang="zh-CN"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  料入仓了会自动反填到物料供应商资料中（要在参数设置中启用后生效）。</a:t>
            </a:r>
            <a:endParaRPr lang="zh-CN"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{数量}：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采购下给供应商的订购数量。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{允许超收比率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允许超收数量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用于设置仓库允许超收比例或数量</a:t>
            </a:r>
            <a:r>
              <a:rPr lang="en-US" alt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</a:t>
            </a:r>
            <a:r>
              <a:rPr lang="zh-CN" altLang="en-US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当入仓数量大于订购数量</a:t>
            </a:r>
            <a:r>
              <a:rPr lang="zh-CN" altLang="en-US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的</a:t>
            </a:r>
            <a:r>
              <a:rPr lang="zh-CN" altLang="en-US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超收范围时，</a:t>
            </a:r>
            <a:endParaRPr lang="zh-CN" altLang="en-US"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                    需用特权密码才能通过（在参数设置启用后生效）。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{采购结算单位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采购结算单位系数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采购结算单位数量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用于供应商送货的单位与库存单位不一时使用。（在</a:t>
            </a:r>
            <a:endParaRPr lang="zh-CN"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                                          系统参数设置中启用后生效）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{*回复交期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回复原因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用于采购追物料，供应商无法按期交货时填写。</a:t>
            </a:r>
            <a:endParaRPr lang="zh-CN"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{*单价}：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与供应商确认好的订购单价（双击可弹出所有历史记录）。</a:t>
            </a:r>
            <a:endParaRPr lang="zh-CN"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{折后含税单价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折扣比率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与供应商确认的物料单价折扣。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{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税款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价税合计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货款}：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统计材料的税款、货款信息。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{报价单价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最低采购单价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最高采购单价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供采购订购时参考。（</a:t>
            </a:r>
            <a:r>
              <a:rPr lang="zh-CN" altLang="en-US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报价单价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来源于产品</a:t>
            </a:r>
            <a:r>
              <a:rPr lang="en-US" alt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BOM</a:t>
            </a:r>
            <a:r>
              <a:rPr lang="zh-CN" altLang="en-US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物料的报价单价，</a:t>
            </a:r>
            <a:endParaRPr lang="zh-CN" altLang="en-US"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                              采购订购的历史最高、最低采购价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）。</a:t>
            </a:r>
            <a:endParaRPr lang="zh-CN"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{备注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特别说明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可填写某行物料的特别说明，或在采购申请单填写好后，可自动带出。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{交货日期</a:t>
            </a:r>
            <a:r>
              <a:rPr lang="zh-CN"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申请单交货日期</a:t>
            </a:r>
            <a:r>
              <a:rPr sz="1350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}：</a:t>
            </a: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要求材料的交货日期（申请单交货日期：物控部门要求采购的材料交期。交货日</a:t>
            </a:r>
            <a:endParaRPr lang="zh-CN"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sz="1350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                  期：采购要求供应商的交期）</a:t>
            </a:r>
            <a:endParaRPr lang="zh-CN" sz="1350" noProof="1" dirty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>
              <a:lnSpc>
                <a:spcPct val="100000"/>
              </a:lnSpc>
            </a:pPr>
            <a:r>
              <a:rPr sz="1350" b="1" dirty="0">
                <a:latin typeface="宋体" panose="02010600030101010101" pitchFamily="2" charset="-122"/>
                <a:sym typeface="+mn-ea"/>
              </a:rPr>
              <a:t>{已入仓数量</a:t>
            </a:r>
            <a:r>
              <a:rPr lang="zh-CN" sz="1350" b="1" dirty="0">
                <a:latin typeface="宋体" panose="02010600030101010101" pitchFamily="2" charset="-122"/>
                <a:sym typeface="+mn-ea"/>
              </a:rPr>
              <a:t>、</a:t>
            </a:r>
            <a:r>
              <a:rPr sz="1350" b="1" dirty="0">
                <a:latin typeface="宋体" panose="02010600030101010101" pitchFamily="2" charset="-122"/>
                <a:sym typeface="+mn-ea"/>
              </a:rPr>
              <a:t>已退货数量</a:t>
            </a:r>
            <a:r>
              <a:rPr lang="zh-CN" sz="1350" b="1" dirty="0">
                <a:latin typeface="宋体" panose="02010600030101010101" pitchFamily="2" charset="-122"/>
                <a:sym typeface="+mn-ea"/>
              </a:rPr>
              <a:t>、</a:t>
            </a:r>
            <a:r>
              <a:rPr sz="1350" b="1" dirty="0">
                <a:latin typeface="宋体" panose="02010600030101010101" pitchFamily="2" charset="-122"/>
                <a:sym typeface="+mn-ea"/>
              </a:rPr>
              <a:t>最后入仓日期}：</a:t>
            </a:r>
            <a:r>
              <a:rPr lang="zh-CN" sz="1350" dirty="0">
                <a:latin typeface="宋体" panose="02010600030101010101" pitchFamily="2" charset="-122"/>
                <a:sym typeface="+mn-ea"/>
              </a:rPr>
              <a:t>材料经过采购入仓后，系统自动将物料的入仓信息反填至此。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sz="1350" b="1" dirty="0">
                <a:latin typeface="宋体" panose="02010600030101010101" pitchFamily="2" charset="-122"/>
                <a:sym typeface="+mn-ea"/>
              </a:rPr>
              <a:t>{来源单号</a:t>
            </a:r>
            <a:r>
              <a:rPr lang="zh-CN" sz="1350" b="1" dirty="0">
                <a:latin typeface="宋体" panose="02010600030101010101" pitchFamily="2" charset="-122"/>
                <a:sym typeface="+mn-ea"/>
              </a:rPr>
              <a:t>、</a:t>
            </a:r>
            <a:r>
              <a:rPr sz="1350" b="1" dirty="0">
                <a:latin typeface="宋体" panose="02010600030101010101" pitchFamily="2" charset="-122"/>
                <a:sym typeface="+mn-ea"/>
              </a:rPr>
              <a:t>申请单来源类型}：</a:t>
            </a:r>
            <a:r>
              <a:rPr lang="zh-CN" altLang="en-US" sz="1350" dirty="0">
                <a:latin typeface="宋体" panose="02010600030101010101" pitchFamily="2" charset="-122"/>
                <a:sym typeface="+mn-ea"/>
              </a:rPr>
              <a:t>记录该采购订货单是来源什么单据、什么单号的。（如：销售订货单，补料单等）</a:t>
            </a:r>
            <a:endParaRPr sz="1350" noProof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" y="1715770"/>
            <a:ext cx="8900795" cy="5040630"/>
          </a:xfrm>
          <a:prstGeom prst="rect">
            <a:avLst/>
          </a:prstGeom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2736214" y="141605"/>
            <a:ext cx="49321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采购管理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采购订货单</a:t>
            </a:r>
            <a:endParaRPr lang="zh-CN" altLang="en-US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01" name="文本框 1"/>
          <p:cNvSpPr txBox="1"/>
          <p:nvPr/>
        </p:nvSpPr>
        <p:spPr>
          <a:xfrm>
            <a:off x="0" y="766445"/>
            <a:ext cx="9134475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采购费用页版用途：</a:t>
            </a:r>
            <a:r>
              <a:rPr lang="zh-CN" altLang="en-US" sz="16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输入需要向供应商支付的其他费用。（如：小缸费、染色费等）</a:t>
            </a:r>
            <a:endParaRPr lang="zh-CN" altLang="en-US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8" name="文本框 1"/>
          <p:cNvSpPr txBox="1"/>
          <p:nvPr/>
        </p:nvSpPr>
        <p:spPr>
          <a:xfrm>
            <a:off x="19685" y="1103630"/>
            <a:ext cx="9124315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采购费用页版操作方法如下：</a:t>
            </a:r>
            <a:endParaRPr lang="en-US" altLang="zh-CN" sz="16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" name="文本框 1"/>
          <p:cNvSpPr txBox="1"/>
          <p:nvPr/>
        </p:nvSpPr>
        <p:spPr>
          <a:xfrm>
            <a:off x="9525" y="1370330"/>
            <a:ext cx="9124315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点采购费用页版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点插入行→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输入费用名称、费用金额→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点保存即输入完成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。</a:t>
            </a:r>
            <a:endParaRPr lang="en-US" altLang="zh-CN" sz="12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6" name="矩形标注 15"/>
          <p:cNvSpPr/>
          <p:nvPr/>
        </p:nvSpPr>
        <p:spPr>
          <a:xfrm>
            <a:off x="1541780" y="6570980"/>
            <a:ext cx="1457325" cy="236220"/>
          </a:xfrm>
          <a:prstGeom prst="wedgeRectCallout">
            <a:avLst>
              <a:gd name="adj1" fmla="val -77058"/>
              <a:gd name="adj2" fmla="val -1639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点采购费用页版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59765" y="6569710"/>
            <a:ext cx="492125" cy="18669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标注 6"/>
          <p:cNvSpPr/>
          <p:nvPr/>
        </p:nvSpPr>
        <p:spPr>
          <a:xfrm>
            <a:off x="2177415" y="2030730"/>
            <a:ext cx="956310" cy="236220"/>
          </a:xfrm>
          <a:prstGeom prst="wedgeRectCallout">
            <a:avLst>
              <a:gd name="adj1" fmla="val 142031"/>
              <a:gd name="adj2" fmla="val 85752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点插入行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矩形标注 8"/>
          <p:cNvSpPr/>
          <p:nvPr/>
        </p:nvSpPr>
        <p:spPr>
          <a:xfrm>
            <a:off x="2669540" y="3669030"/>
            <a:ext cx="2063115" cy="236220"/>
          </a:xfrm>
          <a:prstGeom prst="wedgeRectCallout">
            <a:avLst>
              <a:gd name="adj1" fmla="val -76121"/>
              <a:gd name="adj2" fmla="val 3682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3.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输入费用名称、费用金额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" name="矩形标注 10"/>
          <p:cNvSpPr/>
          <p:nvPr/>
        </p:nvSpPr>
        <p:spPr>
          <a:xfrm>
            <a:off x="5413375" y="2057400"/>
            <a:ext cx="893445" cy="236220"/>
          </a:xfrm>
          <a:prstGeom prst="wedgeRectCallout">
            <a:avLst>
              <a:gd name="adj1" fmla="val -69189"/>
              <a:gd name="adj2" fmla="val 85752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4.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点保存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034155" y="2258060"/>
            <a:ext cx="421640" cy="18669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94005" y="3777615"/>
            <a:ext cx="1882775" cy="19621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836160" y="2258060"/>
            <a:ext cx="421640" cy="18669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391" name="文本框 20"/>
          <p:cNvSpPr txBox="1"/>
          <p:nvPr/>
        </p:nvSpPr>
        <p:spPr>
          <a:xfrm>
            <a:off x="116205" y="5728335"/>
            <a:ext cx="8911590" cy="81470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pPr algn="l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★</a:t>
            </a:r>
            <a:r>
              <a:rPr lang="zh-CN" altLang="en-US" sz="1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采购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订货单做了财务审核后，订单费用自动生成应付立账单。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、费用名称：用于除材料外的</a:t>
            </a:r>
            <a:r>
              <a:rPr lang="zh-CN" altLang="en-US" sz="11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其他费用。（如：小缸费、染色费等）。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来源于【基础资料】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【费用科目】里的资料。当在此选择不到费用明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   细，需要到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【费用科目】里增加。</a:t>
            </a:r>
            <a:endParaRPr lang="en-US" altLang="zh-CN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4" grpId="0" bldLvl="0" animBg="1"/>
      <p:bldP spid="7" grpId="0" bldLvl="0" animBg="1"/>
      <p:bldP spid="12" grpId="0" bldLvl="0" animBg="1"/>
      <p:bldP spid="13" grpId="0" bldLvl="0" animBg="1"/>
      <p:bldP spid="9" grpId="0" bldLvl="0" animBg="1"/>
      <p:bldP spid="14" grpId="0" bldLvl="0" animBg="1"/>
      <p:bldP spid="11" grpId="0" bldLvl="0" animBg="1"/>
      <p:bldP spid="16391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70" y="1631950"/>
            <a:ext cx="8963660" cy="515429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660" y="149860"/>
            <a:ext cx="90487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sym typeface="+mn-ea"/>
              </a:rPr>
              <a:t>采购管理</a:t>
            </a:r>
            <a:r>
              <a:rPr lang="en-US" altLang="zh-CN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采购订货单</a:t>
            </a:r>
            <a:endParaRPr lang="zh-CN" altLang="en-US" sz="2800" b="1" dirty="0" smtClean="0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00" name="文本框 1"/>
          <p:cNvSpPr txBox="1"/>
          <p:nvPr/>
        </p:nvSpPr>
        <p:spPr>
          <a:xfrm>
            <a:off x="-3810" y="746125"/>
            <a:ext cx="91249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入仓明细页版</a:t>
            </a: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</a:rPr>
              <a:t>用途：</a:t>
            </a:r>
            <a:r>
              <a:rPr lang="zh-CN" altLang="en-US" sz="1400" dirty="0">
                <a:latin typeface="Calibri" panose="020F0502020204030204" charset="0"/>
                <a:ea typeface="宋体" panose="02010600030101010101" pitchFamily="2" charset="-122"/>
              </a:rPr>
              <a:t>快速查看采购订货单物料的入仓明细。</a:t>
            </a:r>
            <a:endParaRPr lang="zh-CN" altLang="en-US" sz="14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101" name="文本框 1"/>
          <p:cNvSpPr txBox="1"/>
          <p:nvPr/>
        </p:nvSpPr>
        <p:spPr>
          <a:xfrm>
            <a:off x="10160" y="1112520"/>
            <a:ext cx="8917940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</a:rPr>
              <a:t>操作方法如下：</a:t>
            </a:r>
            <a:endParaRPr lang="zh-CN" altLang="en-US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102" name="文本框 1"/>
          <p:cNvSpPr txBox="1"/>
          <p:nvPr/>
        </p:nvSpPr>
        <p:spPr>
          <a:xfrm>
            <a:off x="-3175" y="1356360"/>
            <a:ext cx="9124315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点入仓明细页版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 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。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      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5" name="文本框 20"/>
          <p:cNvSpPr txBox="1"/>
          <p:nvPr/>
        </p:nvSpPr>
        <p:spPr>
          <a:xfrm>
            <a:off x="167640" y="5576570"/>
            <a:ext cx="8806815" cy="81470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pPr algn="l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、在此页版显示的数据说明已经做过入仓单。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、可以快速查看这张采购订货单的物料是在哪家供应商买的、入仓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日期等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、双击入仓单号系统会自动跳转到对应的入仓单中，方便查看明细。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矩形标注 12"/>
          <p:cNvSpPr/>
          <p:nvPr/>
        </p:nvSpPr>
        <p:spPr>
          <a:xfrm>
            <a:off x="2437130" y="6523355"/>
            <a:ext cx="1493520" cy="262890"/>
          </a:xfrm>
          <a:prstGeom prst="wedgeRectCallout">
            <a:avLst>
              <a:gd name="adj1" fmla="val -110214"/>
              <a:gd name="adj2" fmla="val 1884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点入仓明细页版</a:t>
            </a:r>
            <a:endParaRPr lang="zh-CN" altLang="en-US" sz="1200" strike="noStrike" noProof="1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57275" y="6584950"/>
            <a:ext cx="416560" cy="20129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3" grpId="0" bldLvl="0" animBg="1"/>
      <p:bldP spid="15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" y="1974850"/>
            <a:ext cx="8905240" cy="466661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660" y="149860"/>
            <a:ext cx="90487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noProof="0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sym typeface="+mn-ea"/>
              </a:rPr>
              <a:t>采购管理</a:t>
            </a:r>
            <a:r>
              <a:rPr lang="en-US" altLang="zh-CN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采购订货单</a:t>
            </a:r>
            <a:endParaRPr lang="zh-CN" altLang="en-US" sz="2800" b="1" dirty="0" smtClean="0">
              <a:solidFill>
                <a:schemeClr val="accent6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矩形 19"/>
          <p:cNvSpPr/>
          <p:nvPr/>
        </p:nvSpPr>
        <p:spPr>
          <a:xfrm>
            <a:off x="102870" y="2861945"/>
            <a:ext cx="756285" cy="12954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219075" y="3272155"/>
            <a:ext cx="640080" cy="12700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00" name="文本框 1"/>
          <p:cNvSpPr txBox="1"/>
          <p:nvPr/>
        </p:nvSpPr>
        <p:spPr>
          <a:xfrm>
            <a:off x="-3810" y="746125"/>
            <a:ext cx="9124950" cy="67564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</a:rPr>
              <a:t>采购订货单用途：</a:t>
            </a:r>
            <a:r>
              <a:rPr lang="zh-CN" altLang="en-US" sz="14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严格控制订单需要购买的材料（</a:t>
            </a:r>
            <a:r>
              <a:rPr lang="zh-CN" altLang="en-US" sz="1400" dirty="0" smtClean="0">
                <a:sym typeface="+mn-ea"/>
              </a:rPr>
              <a:t>买多少物料、到哪里买、多少资金预算，预算交期</a:t>
            </a:r>
            <a:endParaRPr lang="zh-CN" altLang="en-US" sz="1400" dirty="0" smtClean="0">
              <a:sym typeface="+mn-ea"/>
            </a:endParaRPr>
          </a:p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400" dirty="0" smtClean="0">
                <a:sym typeface="+mn-ea"/>
              </a:rPr>
              <a:t> ）。通俗：批数量、批供应商、 批单价、批交期。</a:t>
            </a:r>
            <a:r>
              <a:rPr lang="zh-CN" altLang="en-US" sz="1400" dirty="0">
                <a:sym typeface="+mn-ea"/>
              </a:rPr>
              <a:t>。</a:t>
            </a:r>
            <a:endParaRPr lang="zh-CN" altLang="en-US" sz="14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101" name="文本框 1"/>
          <p:cNvSpPr txBox="1"/>
          <p:nvPr/>
        </p:nvSpPr>
        <p:spPr>
          <a:xfrm>
            <a:off x="12065" y="1353185"/>
            <a:ext cx="8917940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</a:rPr>
              <a:t>方法</a:t>
            </a:r>
            <a:r>
              <a:rPr lang="en-US" altLang="zh-CN" sz="1600" b="1" dirty="0">
                <a:latin typeface="Calibri" panose="020F0502020204030204" charset="0"/>
                <a:ea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</a:rPr>
              <a:t>（无来源单据：手工输入）操作方法如下：</a:t>
            </a:r>
            <a:endParaRPr lang="zh-CN" altLang="en-US" sz="16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102" name="文本框 1"/>
          <p:cNvSpPr txBox="1"/>
          <p:nvPr/>
        </p:nvSpPr>
        <p:spPr>
          <a:xfrm>
            <a:off x="-2540" y="1690370"/>
            <a:ext cx="9124315" cy="275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步：通过主菜单→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点【 采购管理】→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2.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</a:rPr>
              <a:t>【采购订货单】。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</a:rPr>
              <a:t>                    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7" name="矩形标注 6"/>
          <p:cNvSpPr/>
          <p:nvPr/>
        </p:nvSpPr>
        <p:spPr>
          <a:xfrm>
            <a:off x="1586865" y="3399790"/>
            <a:ext cx="1352550" cy="360680"/>
          </a:xfrm>
          <a:prstGeom prst="wedgeRectCallout">
            <a:avLst>
              <a:gd name="adj1" fmla="val -102629"/>
              <a:gd name="adj2" fmla="val -737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点采购订货单</a:t>
            </a:r>
            <a:endParaRPr lang="zh-CN" altLang="zh-CN" sz="1200" strike="noStrike" noProof="1">
              <a:solidFill>
                <a:schemeClr val="tx1"/>
              </a:solidFill>
            </a:endParaRPr>
          </a:p>
        </p:txBody>
      </p:sp>
      <p:sp>
        <p:nvSpPr>
          <p:cNvPr id="3" name="矩形标注 2"/>
          <p:cNvSpPr/>
          <p:nvPr/>
        </p:nvSpPr>
        <p:spPr>
          <a:xfrm>
            <a:off x="1659890" y="2399665"/>
            <a:ext cx="1144905" cy="335280"/>
          </a:xfrm>
          <a:prstGeom prst="wedgeRectCallout">
            <a:avLst>
              <a:gd name="adj1" fmla="val -120493"/>
              <a:gd name="adj2" fmla="val 108143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点采购管理</a:t>
            </a:r>
            <a:endParaRPr lang="zh-CN" altLang="en-US" sz="120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3" grpId="0" bldLvl="0" animBg="1"/>
      <p:bldP spid="30" grpId="0" bldLvl="0" animBg="1"/>
      <p:bldP spid="7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" y="1434465"/>
            <a:ext cx="8949690" cy="544957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736214" y="141605"/>
            <a:ext cx="49321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采购管理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采购订货单</a:t>
            </a:r>
            <a:endParaRPr lang="zh-CN" altLang="en-US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3810" y="734060"/>
            <a:ext cx="913955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在主表内输入相关信息（供应商、交货日期等）→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点插入行→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在子表内输入相关信息（物料名称：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双击物料名称，在弹出框中找到需要订购物料，如果没有，则需要新增物料。详见物料资料说明。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采购单价、数量等）→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点保存→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5.点审核（审核权限参考权限表）。</a:t>
            </a:r>
            <a:endParaRPr lang="en-US" altLang="zh-CN" sz="12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57505" y="2259965"/>
            <a:ext cx="8628380" cy="50355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标注 6"/>
          <p:cNvSpPr/>
          <p:nvPr/>
        </p:nvSpPr>
        <p:spPr>
          <a:xfrm>
            <a:off x="5873750" y="1770380"/>
            <a:ext cx="885825" cy="289560"/>
          </a:xfrm>
          <a:prstGeom prst="wedgeRectCallout">
            <a:avLst>
              <a:gd name="adj1" fmla="val -79723"/>
              <a:gd name="adj2" fmla="val 8025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5.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点审核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" name="矩形标注 9"/>
          <p:cNvSpPr/>
          <p:nvPr/>
        </p:nvSpPr>
        <p:spPr>
          <a:xfrm>
            <a:off x="258445" y="1504315"/>
            <a:ext cx="3497580" cy="230505"/>
          </a:xfrm>
          <a:prstGeom prst="wedgeRectCallout">
            <a:avLst>
              <a:gd name="adj1" fmla="val -45896"/>
              <a:gd name="adj2" fmla="val 289944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在主表内输入相关信息（供应商、交货日期等）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" name="矩形标注 10"/>
          <p:cNvSpPr/>
          <p:nvPr/>
        </p:nvSpPr>
        <p:spPr>
          <a:xfrm>
            <a:off x="5041265" y="1504315"/>
            <a:ext cx="832485" cy="230505"/>
          </a:xfrm>
          <a:prstGeom prst="wedgeRectCallout">
            <a:avLst>
              <a:gd name="adj1" fmla="val -69298"/>
              <a:gd name="adj2" fmla="val 176446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4.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点保存</a:t>
            </a:r>
            <a:endParaRPr lang="en-US" altLang="zh-CN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832350" y="2033270"/>
            <a:ext cx="333375" cy="15684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97475" y="2032635"/>
            <a:ext cx="395605" cy="15748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标注 3"/>
          <p:cNvSpPr/>
          <p:nvPr/>
        </p:nvSpPr>
        <p:spPr>
          <a:xfrm>
            <a:off x="3871595" y="1508125"/>
            <a:ext cx="1029970" cy="226695"/>
          </a:xfrm>
          <a:prstGeom prst="wedgeRectCallout">
            <a:avLst>
              <a:gd name="adj1" fmla="val 924"/>
              <a:gd name="adj2" fmla="val 17745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点插入行</a:t>
            </a:r>
            <a:endParaRPr 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" name="矩形标注 7"/>
          <p:cNvSpPr/>
          <p:nvPr/>
        </p:nvSpPr>
        <p:spPr>
          <a:xfrm>
            <a:off x="2000250" y="3908425"/>
            <a:ext cx="5866765" cy="229235"/>
          </a:xfrm>
          <a:prstGeom prst="wedgeRectCallout">
            <a:avLst>
              <a:gd name="adj1" fmla="val -32580"/>
              <a:gd name="adj2" fmla="val -9154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3.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在子表内输入相关信息（物料名称、采购单价、数量等）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93845" y="2033270"/>
            <a:ext cx="414020" cy="16446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57505" y="3440430"/>
            <a:ext cx="8628380" cy="35242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20"/>
          <p:cNvSpPr txBox="1"/>
          <p:nvPr/>
        </p:nvSpPr>
        <p:spPr>
          <a:xfrm>
            <a:off x="134620" y="4191635"/>
            <a:ext cx="8806815" cy="26765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pPr algn="l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★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物料名称：双击物料名称，在弹出框中找到需要订购的物料。如果没有，需要新增物料。详见物料资料说明。</a:t>
            </a:r>
            <a:endParaRPr lang="en-US" altLang="zh-CN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、交货方式、交货地址、币种、税率、扣税类型、结算方式：在供应商资料里设定后，会自动带出，可手工修改。</a:t>
            </a:r>
            <a:endParaRPr lang="en-US" altLang="zh-CN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、定金、现金账户、银行账户：当需要付定金时输入，财务审核后，会产生对应的预付款，财务做付款单时，可用定金冲账。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、报表序号：选择不同格式的报表打印。</a:t>
            </a:r>
            <a:endParaRPr lang="en-US" altLang="zh-CN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、双击订单号可以关联销售订货单。</a:t>
            </a:r>
            <a:endParaRPr lang="en-US" altLang="zh-CN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、数量、单价：默认带出采购申请单输入的首次批准数量和批准单价，可手工修改。当单价超过设定的单价时，系统会提示用特权密码审核通过，同时系统也会记录使用特权密码的通过的次数和金额。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、允许超收数量、允许超收比例：用于控制供应商多送物料。默认带出物料分类中设定数值，可手工修改。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、交货日期：当同一张采购订货单内的物料有不同交期时，才需使用。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、回复交期、回复原因：供应商回复的实际交期及原因说明。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、报价单价：报价单价来源于【产品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BOM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【报价资料】页版输入的物料报价单价，系统可设置采购单价不允许超过报价单价。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最高采购单价、最低采购单价：系统自动记录物料的最低采购单价与最高采购单价，系统可设置采购单价不允许超过最高采购单价。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、单价：双击单价可以看到历史采购单价。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、采购结算单位、采购结算单位系数：在【物料供应商资料】中设定后，会自动带入，可手工修改。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  <p:bldP spid="4" grpId="0" bldLvl="0" animBg="1"/>
      <p:bldP spid="9" grpId="0" bldLvl="0" animBg="1"/>
      <p:bldP spid="8" grpId="0" bldLvl="0" animBg="1"/>
      <p:bldP spid="14" grpId="0" bldLvl="0" animBg="1"/>
      <p:bldP spid="12" grpId="0" bldLvl="0" animBg="1"/>
      <p:bldP spid="11" grpId="0" bldLvl="0" animBg="1"/>
      <p:bldP spid="13" grpId="0" bldLvl="0" animBg="1"/>
      <p:bldP spid="7" grpId="0" bldLvl="0" animBg="1"/>
      <p:bldP spid="17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0" y="1355725"/>
            <a:ext cx="9041130" cy="5428615"/>
          </a:xfrm>
          <a:prstGeom prst="rect">
            <a:avLst/>
          </a:prstGeom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" y="-1984"/>
            <a:ext cx="1897752" cy="67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2736214" y="141605"/>
            <a:ext cx="49321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采购管理</a:t>
            </a: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-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采购订货单</a:t>
            </a:r>
            <a:endParaRPr lang="zh-CN" altLang="en-US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705396"/>
            <a:ext cx="9144000" cy="4009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9695" y="772160"/>
            <a:ext cx="89014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采购订货单打印报表操作：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步：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点报表→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选中所需打印的表格→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点打开或保存→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5.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点确定（系统自动将数据写入到</a:t>
            </a:r>
            <a:r>
              <a:rPr lang="en-US" altLang="zh-CN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EXCEL</a:t>
            </a:r>
            <a:r>
              <a:rPr lang="zh-CN" altLang="en-US" sz="12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中打印）。</a:t>
            </a:r>
            <a:endParaRPr lang="zh-CN" altLang="en-US" sz="12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3" name="矩形标注 12"/>
          <p:cNvSpPr/>
          <p:nvPr/>
        </p:nvSpPr>
        <p:spPr>
          <a:xfrm>
            <a:off x="1295400" y="1614805"/>
            <a:ext cx="822325" cy="247015"/>
          </a:xfrm>
          <a:prstGeom prst="wedgeRectCallout">
            <a:avLst>
              <a:gd name="adj1" fmla="val -85366"/>
              <a:gd name="adj2" fmla="val 103984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1.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点报表</a:t>
            </a:r>
            <a:endParaRPr lang="en-US" altLang="zh-CN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5" name="矩形标注 14"/>
          <p:cNvSpPr/>
          <p:nvPr/>
        </p:nvSpPr>
        <p:spPr>
          <a:xfrm>
            <a:off x="1744345" y="2297430"/>
            <a:ext cx="1045845" cy="437515"/>
          </a:xfrm>
          <a:prstGeom prst="wedgeRectCallout">
            <a:avLst>
              <a:gd name="adj1" fmla="val -61778"/>
              <a:gd name="adj2" fmla="val 86865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2.</a:t>
            </a:r>
            <a:r>
              <a:rPr lang="zh-CN" altLang="en-US" sz="1200" strike="noStrike" noProof="1">
                <a:solidFill>
                  <a:schemeClr val="tx1"/>
                </a:solidFill>
              </a:rPr>
              <a:t>选中需打印的表格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80390" y="1971675"/>
            <a:ext cx="436245" cy="14160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0"/>
          <p:cNvSpPr txBox="1"/>
          <p:nvPr/>
        </p:nvSpPr>
        <p:spPr>
          <a:xfrm>
            <a:off x="99695" y="5420360"/>
            <a:ext cx="8902065" cy="98361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小窍门：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、采购订货单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采购订货单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、采购订货单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、采购订货单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（通用明细版）、采购订货单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</a:rPr>
              <a:t>（通用不含汇总）：按物料明细显示报表。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、采购订货单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：按物料汇总显示报表。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、采购订货单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、采购订货单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、采购订货单（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MH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）、采购订货单（</a:t>
            </a:r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CH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）：有物料明细和汇总数据。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 sz="11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、培训老师协助选择适合客户的报表</a:t>
            </a:r>
            <a:r>
              <a:rPr lang="zh-CN" sz="110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。</a:t>
            </a:r>
            <a:endParaRPr lang="zh-CN" altLang="en-US" sz="11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90" y="2148205"/>
            <a:ext cx="1018540" cy="1400810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580390" y="2148205"/>
            <a:ext cx="1017905" cy="140017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0" y="2297430"/>
            <a:ext cx="3385820" cy="244538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3460115" y="3566160"/>
            <a:ext cx="2952115" cy="375920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标注 20"/>
          <p:cNvSpPr/>
          <p:nvPr/>
        </p:nvSpPr>
        <p:spPr>
          <a:xfrm>
            <a:off x="4777105" y="3193415"/>
            <a:ext cx="1508760" cy="259080"/>
          </a:xfrm>
          <a:prstGeom prst="wedgeRectCallout">
            <a:avLst>
              <a:gd name="adj1" fmla="val -55768"/>
              <a:gd name="adj2" fmla="val 86865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3.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点打开或保存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227955" y="4369435"/>
            <a:ext cx="619125" cy="25717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标注 21"/>
          <p:cNvSpPr/>
          <p:nvPr/>
        </p:nvSpPr>
        <p:spPr>
          <a:xfrm>
            <a:off x="6097905" y="4110355"/>
            <a:ext cx="855345" cy="259080"/>
          </a:xfrm>
          <a:prstGeom prst="wedgeRectCallout">
            <a:avLst>
              <a:gd name="adj1" fmla="val -82887"/>
              <a:gd name="adj2" fmla="val 7303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 fontAlgn="base"/>
            <a:r>
              <a:rPr lang="en-US" altLang="zh-CN" sz="1600" b="1" strike="noStrike" noProof="1">
                <a:solidFill>
                  <a:schemeClr val="tx1"/>
                </a:solidFill>
              </a:rPr>
              <a:t>4.</a:t>
            </a:r>
            <a:r>
              <a:rPr lang="zh-CN" altLang="en-US" sz="1200" dirty="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点确定</a:t>
            </a:r>
            <a:endParaRPr lang="zh-CN" altLang="en-US" sz="1200" strike="noStrike" noProof="1" dirty="0">
              <a:solidFill>
                <a:schemeClr val="tx1"/>
              </a:solidFill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3" grpId="0" bldLvl="0" animBg="1"/>
      <p:bldP spid="27" grpId="0" bldLvl="0" animBg="1"/>
      <p:bldP spid="15" grpId="0" bldLvl="0" animBg="1"/>
      <p:bldP spid="19" grpId="0" bldLvl="0" animBg="1"/>
      <p:bldP spid="21" grpId="0" bldLvl="0" animBg="1"/>
      <p:bldP spid="20" grpId="0" bldLvl="0" animBg="1"/>
      <p:bldP spid="22" grpId="0" bldLvl="0" animBg="1"/>
      <p:bldP spid="25" grpId="0" bldLvl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10482</Words>
  <Application>WPS 演示</Application>
  <PresentationFormat>全屏显示(4:3)</PresentationFormat>
  <Paragraphs>493</Paragraphs>
  <Slides>27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4" baseType="lpstr">
      <vt:lpstr>Arial</vt:lpstr>
      <vt:lpstr>宋体</vt:lpstr>
      <vt:lpstr>Wingdings</vt:lpstr>
      <vt:lpstr>Calibri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354</cp:revision>
  <dcterms:created xsi:type="dcterms:W3CDTF">2017-04-15T06:05:00Z</dcterms:created>
  <dcterms:modified xsi:type="dcterms:W3CDTF">2019-01-24T03:11:52Z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2052-11.1.0.8214</vt:lpwstr>
  </property>
  <property fmtid="{D5CDD505-2E9C-101B-9397-08002B2CF9AE}" pid="3" name="KSORubyTemplateID">
    <vt:lpwstr>13</vt:lpwstr>
  </property>
</Properties>
</file>