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0"/>
  </p:handoutMasterIdLst>
  <p:sldIdLst>
    <p:sldId id="341" r:id="rId3"/>
    <p:sldId id="309" r:id="rId5"/>
    <p:sldId id="354" r:id="rId6"/>
    <p:sldId id="310" r:id="rId7"/>
    <p:sldId id="292" r:id="rId8"/>
    <p:sldId id="342" r:id="rId9"/>
    <p:sldId id="372" r:id="rId10"/>
    <p:sldId id="364" r:id="rId11"/>
    <p:sldId id="365" r:id="rId12"/>
    <p:sldId id="348" r:id="rId13"/>
    <p:sldId id="373" r:id="rId14"/>
    <p:sldId id="349" r:id="rId15"/>
    <p:sldId id="350" r:id="rId16"/>
    <p:sldId id="345" r:id="rId17"/>
    <p:sldId id="346" r:id="rId18"/>
    <p:sldId id="352" r:id="rId19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94" autoAdjust="0"/>
    <p:restoredTop sz="94563" autoAdjust="0"/>
  </p:normalViewPr>
  <p:slideViewPr>
    <p:cSldViewPr>
      <p:cViewPr>
        <p:scale>
          <a:sx n="75" d="100"/>
          <a:sy n="75" d="100"/>
        </p:scale>
        <p:origin x="-1248" y="108"/>
      </p:cViewPr>
      <p:guideLst>
        <p:guide orient="horz" pos="2196"/>
        <p:guide pos="28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861AB9-842D-4A8E-91AC-36729E09A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8EA7FD-81C3-4654-BCFB-39DB0308240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5122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512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/>
          <a:p>
            <a:pPr lvl="0" indent="0" algn="r" fontAlgn="base">
              <a:spcBef>
                <a:spcPct val="0"/>
              </a:spcBef>
              <a:spcAft>
                <a:spcPct val="0"/>
              </a:spcAft>
            </a:pPr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7170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7171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/>
          <a:p>
            <a:pPr lvl="0" indent="0" algn="r" fontAlgn="base">
              <a:spcBef>
                <a:spcPct val="0"/>
              </a:spcBef>
              <a:spcAft>
                <a:spcPct val="0"/>
              </a:spcAft>
            </a:pPr>
            <a:fld id="{9A0DB2DC-4C9A-4742-B13C-FB6460FD3503}" type="slidenum">
              <a:rPr lang="zh-CN" altLang="en-US" sz="1200" dirty="0">
                <a:latin typeface="Calibri" panose="020F0502020204030204" charset="0"/>
                <a:ea typeface="宋体" panose="02010600030101010101" pitchFamily="2" charset="-122"/>
              </a:rPr>
            </a:fld>
            <a:endParaRPr lang="zh-CN" altLang="en-US" sz="1200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7170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7171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/>
          <a:p>
            <a:pPr lvl="0" indent="0" algn="r" fontAlgn="base">
              <a:spcBef>
                <a:spcPct val="0"/>
              </a:spcBef>
              <a:spcAft>
                <a:spcPct val="0"/>
              </a:spcAft>
            </a:pPr>
            <a:fld id="{9A0DB2DC-4C9A-4742-B13C-FB6460FD3503}" type="slidenum">
              <a:rPr lang="zh-CN" altLang="en-US" sz="1200" dirty="0">
                <a:latin typeface="Calibri" panose="020F0502020204030204" charset="0"/>
                <a:ea typeface="宋体" panose="02010600030101010101" pitchFamily="2" charset="-122"/>
              </a:rPr>
            </a:fld>
            <a:endParaRPr lang="zh-CN" altLang="en-US" sz="1200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EA7FD-81C3-4654-BCFB-39DB0308240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EA7FD-81C3-4654-BCFB-39DB0308240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EA7FD-81C3-4654-BCFB-39DB0308240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5362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536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/>
          <a:p>
            <a:pPr lvl="0" indent="0" algn="r" fontAlgn="base">
              <a:spcBef>
                <a:spcPct val="0"/>
              </a:spcBef>
              <a:spcAft>
                <a:spcPct val="0"/>
              </a:spcAft>
            </a:pPr>
            <a:fld id="{9A0DB2DC-4C9A-4742-B13C-FB6460FD3503}" type="slidenum">
              <a:rPr lang="zh-CN" altLang="en-US" sz="1200" dirty="0">
                <a:latin typeface="Calibri" panose="020F0502020204030204" charset="0"/>
                <a:ea typeface="宋体" panose="02010600030101010101" pitchFamily="2" charset="-122"/>
              </a:rPr>
            </a:fld>
            <a:endParaRPr lang="zh-CN" altLang="en-US" sz="1200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3314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3315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charset="0"/>
                <a:ea typeface="宋体" panose="02010600030101010101" pitchFamily="2" charset="-122"/>
              </a:rPr>
            </a:fld>
            <a:endParaRPr lang="zh-CN" altLang="en-US" sz="1200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3314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3315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charset="0"/>
                <a:ea typeface="宋体" panose="02010600030101010101" pitchFamily="2" charset="-122"/>
              </a:rPr>
            </a:fld>
            <a:endParaRPr lang="zh-CN" altLang="en-US" sz="1200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EA7FD-81C3-4654-BCFB-39DB0308240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9458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945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/>
          <a:p>
            <a:pPr lvl="0" indent="0" algn="r" fontAlgn="base">
              <a:spcBef>
                <a:spcPct val="0"/>
              </a:spcBef>
              <a:spcAft>
                <a:spcPct val="0"/>
              </a:spcAft>
            </a:pPr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EA7FD-81C3-4654-BCFB-39DB0308240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EA7FD-81C3-4654-BCFB-39DB0308240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EA7FD-81C3-4654-BCFB-39DB0308240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EA7FD-81C3-4654-BCFB-39DB0308240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" name="TextBox 22"/>
          <p:cNvSpPr txBox="1"/>
          <p:nvPr/>
        </p:nvSpPr>
        <p:spPr>
          <a:xfrm>
            <a:off x="2440940" y="148908"/>
            <a:ext cx="4110038" cy="52197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algn="ctr" defTabSz="9144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0" dirty="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  <a:cs typeface="+mn-cs"/>
                <a:sym typeface="+mn-ea"/>
              </a:rPr>
              <a:t>采购管理</a:t>
            </a:r>
            <a:endParaRPr kumimoji="0" lang="zh-CN" altLang="en-US" sz="2800" b="1" kern="1200" cap="none" spc="0" normalizeH="0" baseline="0" noProof="0" dirty="0">
              <a:solidFill>
                <a:schemeClr val="accent6">
                  <a:lumMod val="75000"/>
                </a:schemeClr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0" y="704850"/>
            <a:ext cx="9144000" cy="4127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4099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" y="-1587"/>
            <a:ext cx="1898650" cy="6731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6" name="文本框 1"/>
          <p:cNvSpPr txBox="1"/>
          <p:nvPr/>
        </p:nvSpPr>
        <p:spPr>
          <a:xfrm>
            <a:off x="120650" y="766445"/>
            <a:ext cx="8580438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eaLnBrk="0" hangingPunct="0">
              <a:buFont typeface="Arial" panose="020B0604020202020204" pitchFamily="34" charset="0"/>
              <a:buNone/>
            </a:pPr>
            <a:r>
              <a:rPr lang="zh-CN" altLang="en-US" sz="2800" b="1" noProof="0" dirty="0">
                <a:solidFill>
                  <a:schemeClr val="tx1"/>
                </a:solidFill>
                <a:sym typeface="+mn-ea"/>
              </a:rPr>
              <a:t>采购</a:t>
            </a:r>
            <a:r>
              <a:rPr lang="zh-CN" altLang="en-US" sz="2800" b="1" dirty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rPr>
              <a:t>管理概述：</a:t>
            </a:r>
            <a:endParaRPr lang="zh-CN" altLang="en-US" sz="2800" b="1" dirty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525" y="1377315"/>
            <a:ext cx="9135110" cy="37846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eaLnBrk="0" hangingPunct="0">
              <a:buFont typeface="Arial" panose="020B0604020202020204" pitchFamily="34" charset="0"/>
              <a:buNone/>
            </a:pPr>
            <a:r>
              <a:rPr lang="zh-CN" altLang="en-US" sz="2400" dirty="0">
                <a:sym typeface="+mn-ea"/>
              </a:rPr>
              <a:t>采购管理系统：考虑到企业个性化管理，提供了采购数据（供应商、物料等）的自定义单据、报表，灵活的系统参数设置等多种自定义功能，从而达到企业标准化流程，以满足企业的个性化需求。</a:t>
            </a:r>
            <a:endParaRPr lang="zh-CN" altLang="en-US" sz="2400" dirty="0">
              <a:sym typeface="+mn-ea"/>
            </a:endParaRPr>
          </a:p>
          <a:p>
            <a:pPr eaLnBrk="0" hangingPunct="0">
              <a:buFont typeface="Arial" panose="020B0604020202020204" pitchFamily="34" charset="0"/>
              <a:buNone/>
            </a:pPr>
            <a:endParaRPr lang="zh-CN" altLang="en-US" sz="2400" dirty="0">
              <a:sym typeface="+mn-ea"/>
            </a:endParaRPr>
          </a:p>
          <a:p>
            <a:pPr eaLnBrk="0" hangingPunct="0">
              <a:buFont typeface="Arial" panose="020B0604020202020204" pitchFamily="34" charset="0"/>
              <a:buNone/>
            </a:pPr>
            <a:r>
              <a:rPr lang="zh-CN" altLang="en-US" sz="2400" dirty="0">
                <a:sym typeface="+mn-ea"/>
              </a:rPr>
              <a:t>清晰的采购流程，灵活的单据处理功能，全方面控制采购价格资料、供应商供货信息等，从而实现采购规范化流程。</a:t>
            </a:r>
            <a:endParaRPr lang="zh-CN" altLang="en-US" sz="2400" dirty="0">
              <a:sym typeface="+mn-ea"/>
            </a:endParaRPr>
          </a:p>
          <a:p>
            <a:pPr eaLnBrk="0" hangingPunct="0">
              <a:buFont typeface="Arial" panose="020B0604020202020204" pitchFamily="34" charset="0"/>
              <a:buNone/>
            </a:pPr>
            <a:endParaRPr lang="zh-CN" altLang="en-US" sz="2400" dirty="0">
              <a:sym typeface="+mn-ea"/>
            </a:endParaRPr>
          </a:p>
          <a:p>
            <a:pPr eaLnBrk="0" hangingPunct="0">
              <a:buFont typeface="Arial" panose="020B0604020202020204" pitchFamily="34" charset="0"/>
              <a:buNone/>
            </a:pPr>
            <a:r>
              <a:rPr lang="zh-CN" altLang="en-US" sz="2400" dirty="0"/>
              <a:t>通过采购订货、仓库收货、采购退货、供应商管理、价格及供应商资料信息等功能综合运用的管理系统，对采购物流、资金流的全过程进行有效的双向控制和跟踪，完善企业材料供应信息管理。</a:t>
            </a:r>
            <a:endParaRPr lang="zh-CN" altLang="en-US" sz="2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" name="TextBox 22"/>
          <p:cNvSpPr txBox="1"/>
          <p:nvPr/>
        </p:nvSpPr>
        <p:spPr>
          <a:xfrm>
            <a:off x="2517140" y="149543"/>
            <a:ext cx="4110038" cy="52197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algn="ctr" defTabSz="9144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0" dirty="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  <a:cs typeface="+mn-cs"/>
                <a:sym typeface="+mn-ea"/>
              </a:rPr>
              <a:t>采购管理</a:t>
            </a:r>
            <a:endParaRPr kumimoji="0" lang="zh-CN" altLang="en-US" sz="2800" b="1" kern="1200" cap="none" spc="0" normalizeH="0" baseline="0" noProof="0" dirty="0">
              <a:solidFill>
                <a:schemeClr val="accent6">
                  <a:lumMod val="75000"/>
                </a:schemeClr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0" y="704850"/>
            <a:ext cx="9144000" cy="4127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147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" y="-1587"/>
            <a:ext cx="1898650" cy="6731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6" name="文本框 1"/>
          <p:cNvSpPr txBox="1"/>
          <p:nvPr/>
        </p:nvSpPr>
        <p:spPr>
          <a:xfrm>
            <a:off x="177800" y="925513"/>
            <a:ext cx="8580438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eaLnBrk="0" hangingPunct="0">
              <a:buFont typeface="Arial" panose="020B0604020202020204" pitchFamily="34" charset="0"/>
              <a:buNone/>
            </a:pPr>
            <a:r>
              <a:rPr lang="zh-CN" altLang="en-US" sz="2800" b="1" dirty="0">
                <a:latin typeface="Calibri" panose="020F0502020204030204" charset="0"/>
                <a:ea typeface="宋体" panose="02010600030101010101" pitchFamily="2" charset="-122"/>
                <a:sym typeface="宋体" panose="02010600030101010101" pitchFamily="2" charset="-122"/>
              </a:rPr>
              <a:t>采购单据包括以下几大类：</a:t>
            </a:r>
            <a:endParaRPr lang="zh-CN" altLang="en-US" sz="1200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6" name="文本框 1"/>
          <p:cNvSpPr txBox="1"/>
          <p:nvPr/>
        </p:nvSpPr>
        <p:spPr>
          <a:xfrm>
            <a:off x="9525" y="3030855"/>
            <a:ext cx="1202690" cy="39878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eaLnBrk="0" hangingPunct="0">
              <a:buFont typeface="Arial" panose="020B0604020202020204" pitchFamily="34" charset="0"/>
              <a:buNone/>
            </a:pPr>
            <a:r>
              <a:rPr lang="zh-CN" altLang="en-US" sz="2000" dirty="0">
                <a:latin typeface="Calibri" panose="020F0502020204030204" charset="0"/>
                <a:ea typeface="宋体" panose="02010600030101010101" pitchFamily="2" charset="-122"/>
                <a:sym typeface="宋体" panose="02010600030101010101" pitchFamily="2" charset="-122"/>
              </a:rPr>
              <a:t>采购管理</a:t>
            </a:r>
            <a:endParaRPr lang="zh-CN" altLang="en-US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2" name="左大括号 1"/>
          <p:cNvSpPr/>
          <p:nvPr/>
        </p:nvSpPr>
        <p:spPr>
          <a:xfrm>
            <a:off x="1113790" y="1667510"/>
            <a:ext cx="467360" cy="3133090"/>
          </a:xfrm>
          <a:prstGeom prst="leftBrace">
            <a:avLst>
              <a:gd name="adj1" fmla="val 32376"/>
              <a:gd name="adj2" fmla="val 50000"/>
            </a:avLst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p>
            <a:endParaRPr lang="zh-CN" altLang="en-US"/>
          </a:p>
        </p:txBody>
      </p:sp>
      <p:sp>
        <p:nvSpPr>
          <p:cNvPr id="3" name="文本框 1"/>
          <p:cNvSpPr txBox="1"/>
          <p:nvPr/>
        </p:nvSpPr>
        <p:spPr>
          <a:xfrm>
            <a:off x="1581150" y="1447800"/>
            <a:ext cx="7562850" cy="117030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l">
              <a:lnSpc>
                <a:spcPct val="130000"/>
              </a:lnSpc>
            </a:pP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1.</a:t>
            </a:r>
            <a:r>
              <a:rPr lang="zh-CN" altLang="en-US" dirty="0">
                <a:latin typeface="Calibri" panose="020F0502020204030204" charset="0"/>
                <a:ea typeface="宋体" panose="02010600030101010101" pitchFamily="2" charset="-122"/>
              </a:rPr>
              <a:t>采购申请单：严格控制订单需要购买的材料（</a:t>
            </a:r>
            <a:r>
              <a:rPr lang="zh-CN" altLang="en-US" dirty="0" smtClean="0">
                <a:sym typeface="+mn-ea"/>
              </a:rPr>
              <a:t>买多少物料、到哪里买、多少资金预算，预算交期）。通俗说法：批数量、批供应商、 批单价、批交期。</a:t>
            </a:r>
            <a:endParaRPr lang="zh-CN" altLang="en-US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9" name="文本框 1"/>
          <p:cNvSpPr txBox="1"/>
          <p:nvPr/>
        </p:nvSpPr>
        <p:spPr>
          <a:xfrm>
            <a:off x="1510665" y="4612005"/>
            <a:ext cx="7578090" cy="1476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eaLnBrk="0" hangingPunct="0">
              <a:buFont typeface="Arial" panose="020B0604020202020204" pitchFamily="34" charset="0"/>
              <a:buNone/>
            </a:pP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2.</a:t>
            </a:r>
            <a:r>
              <a:rPr lang="zh-CN" altLang="en-US" dirty="0">
                <a:latin typeface="Calibri" panose="020F0502020204030204" charset="0"/>
                <a:ea typeface="宋体" panose="02010600030101010101" pitchFamily="2" charset="-122"/>
              </a:rPr>
              <a:t>采购</a:t>
            </a:r>
            <a:r>
              <a:rPr lang="zh-CN" altLang="en-US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订货单：来源于采购申请单的数据。采购订货单</a:t>
            </a:r>
            <a:r>
              <a:rPr lang="zh-CN" altLang="en-US" dirty="0">
                <a:sym typeface="+mn-ea"/>
              </a:rPr>
              <a:t>考虑到企业个性化管理，提供了单据自定义、报表自定义（如：采购合同），系统提供最高限价控制手段，通过物料供应商资料页版，实现物料与供应商关联（同一物料不同供应商）等多种功能，从而实现企业标准化流程，满足企业的个性化需求。</a:t>
            </a:r>
            <a:endParaRPr lang="zh-CN" altLang="en-US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" name="TextBox 22"/>
          <p:cNvSpPr txBox="1"/>
          <p:nvPr/>
        </p:nvSpPr>
        <p:spPr>
          <a:xfrm>
            <a:off x="2517140" y="149543"/>
            <a:ext cx="4110038" cy="52197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algn="ctr" defTabSz="9144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0" dirty="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  <a:cs typeface="+mn-cs"/>
                <a:sym typeface="+mn-ea"/>
              </a:rPr>
              <a:t>采购管理</a:t>
            </a:r>
            <a:r>
              <a:rPr kumimoji="0" lang="en-US" altLang="zh-CN" sz="2800" b="1" kern="1200" cap="none" spc="0" normalizeH="0" baseline="0" noProof="0" dirty="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  <a:cs typeface="+mn-cs"/>
                <a:sym typeface="+mn-ea"/>
              </a:rPr>
              <a:t>-</a:t>
            </a:r>
            <a:r>
              <a:rPr kumimoji="0" lang="zh-CN" altLang="en-US" sz="2800" b="1" kern="1200" cap="none" spc="0" normalizeH="0" baseline="0" noProof="0" dirty="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  <a:cs typeface="+mn-cs"/>
                <a:sym typeface="+mn-ea"/>
              </a:rPr>
              <a:t>采购申请单</a:t>
            </a:r>
            <a:endParaRPr kumimoji="0" lang="zh-CN" altLang="en-US" sz="2800" b="1" kern="1200" cap="none" spc="0" normalizeH="0" baseline="0" noProof="0" dirty="0">
              <a:solidFill>
                <a:schemeClr val="accent6">
                  <a:lumMod val="75000"/>
                </a:schemeClr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0" y="704850"/>
            <a:ext cx="9144000" cy="4127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147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" y="-1587"/>
            <a:ext cx="1898650" cy="6731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6" name="文本框 1"/>
          <p:cNvSpPr txBox="1"/>
          <p:nvPr/>
        </p:nvSpPr>
        <p:spPr>
          <a:xfrm>
            <a:off x="177800" y="925513"/>
            <a:ext cx="8580438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eaLnBrk="0" hangingPunct="0">
              <a:buFont typeface="Arial" panose="020B0604020202020204" pitchFamily="34" charset="0"/>
              <a:buNone/>
            </a:pPr>
            <a:r>
              <a:rPr lang="zh-CN" altLang="en-US" sz="2800" b="1" dirty="0">
                <a:latin typeface="Calibri" panose="020F0502020204030204" charset="0"/>
                <a:ea typeface="宋体" panose="02010600030101010101" pitchFamily="2" charset="-122"/>
                <a:sym typeface="宋体" panose="02010600030101010101" pitchFamily="2" charset="-122"/>
              </a:rPr>
              <a:t>采购申请单操作方法：</a:t>
            </a:r>
            <a:endParaRPr lang="zh-CN" altLang="en-US" sz="1200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6" name="文本框 1"/>
          <p:cNvSpPr txBox="1"/>
          <p:nvPr/>
        </p:nvSpPr>
        <p:spPr>
          <a:xfrm>
            <a:off x="9525" y="3430905"/>
            <a:ext cx="1531620" cy="39878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eaLnBrk="0" hangingPunct="0">
              <a:buFont typeface="Arial" panose="020B0604020202020204" pitchFamily="34" charset="0"/>
              <a:buNone/>
            </a:pPr>
            <a:r>
              <a:rPr lang="zh-CN" altLang="en-US" sz="2000" dirty="0">
                <a:latin typeface="Calibri" panose="020F0502020204030204" charset="0"/>
                <a:ea typeface="宋体" panose="02010600030101010101" pitchFamily="2" charset="-122"/>
                <a:sym typeface="宋体" panose="02010600030101010101" pitchFamily="2" charset="-122"/>
              </a:rPr>
              <a:t>采购申请单</a:t>
            </a:r>
            <a:endParaRPr lang="zh-CN" altLang="en-US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2" name="左大括号 1"/>
          <p:cNvSpPr/>
          <p:nvPr/>
        </p:nvSpPr>
        <p:spPr>
          <a:xfrm>
            <a:off x="1389380" y="2067560"/>
            <a:ext cx="467360" cy="3133090"/>
          </a:xfrm>
          <a:prstGeom prst="leftBrace">
            <a:avLst>
              <a:gd name="adj1" fmla="val 32376"/>
              <a:gd name="adj2" fmla="val 50000"/>
            </a:avLst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p>
            <a:endParaRPr lang="zh-CN" altLang="en-US"/>
          </a:p>
        </p:txBody>
      </p:sp>
      <p:sp>
        <p:nvSpPr>
          <p:cNvPr id="3" name="文本框 1"/>
          <p:cNvSpPr txBox="1"/>
          <p:nvPr/>
        </p:nvSpPr>
        <p:spPr>
          <a:xfrm>
            <a:off x="1856740" y="1847850"/>
            <a:ext cx="7151370" cy="81026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dirty="0">
                <a:latin typeface="Calibri" panose="020F0502020204030204" charset="0"/>
                <a:ea typeface="宋体" panose="02010600030101010101" pitchFamily="2" charset="-122"/>
              </a:rPr>
              <a:t>方法</a:t>
            </a: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1</a:t>
            </a:r>
            <a:r>
              <a:rPr lang="zh-CN" altLang="en-US" dirty="0">
                <a:latin typeface="Calibri" panose="020F0502020204030204" charset="0"/>
                <a:ea typeface="宋体" panose="02010600030101010101" pitchFamily="2" charset="-122"/>
              </a:rPr>
              <a:t>：有来源单据（销售订货单、外发加工单、补料单）：用于按</a:t>
            </a:r>
            <a:endParaRPr lang="zh-CN" altLang="en-US" dirty="0">
              <a:latin typeface="Calibri" panose="020F0502020204030204" charset="0"/>
              <a:ea typeface="宋体" panose="02010600030101010101" pitchFamily="2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dirty="0">
                <a:latin typeface="Calibri" panose="020F0502020204030204" charset="0"/>
                <a:ea typeface="宋体" panose="02010600030101010101" pitchFamily="2" charset="-122"/>
              </a:rPr>
              <a:t>                来源单据产生物料申请。</a:t>
            </a:r>
            <a:endParaRPr lang="zh-CN" altLang="en-US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9" name="文本框 1"/>
          <p:cNvSpPr txBox="1"/>
          <p:nvPr/>
        </p:nvSpPr>
        <p:spPr>
          <a:xfrm>
            <a:off x="1786255" y="5012055"/>
            <a:ext cx="728789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eaLnBrk="0" hangingPunct="0">
              <a:buFont typeface="Arial" panose="020B0604020202020204" pitchFamily="34" charset="0"/>
              <a:buNone/>
            </a:pPr>
            <a:r>
              <a:rPr lang="zh-CN" altLang="en-US" dirty="0">
                <a:latin typeface="Calibri" panose="020F0502020204030204" charset="0"/>
                <a:ea typeface="宋体" panose="02010600030101010101" pitchFamily="2" charset="-122"/>
              </a:rPr>
              <a:t>方法</a:t>
            </a: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2</a:t>
            </a:r>
            <a:r>
              <a:rPr lang="zh-CN" altLang="en-US" dirty="0">
                <a:latin typeface="Calibri" panose="020F0502020204030204" charset="0"/>
                <a:ea typeface="宋体" panose="02010600030101010101" pitchFamily="2" charset="-122"/>
              </a:rPr>
              <a:t>：无来源单据（手工输入）：用于</a:t>
            </a:r>
            <a:r>
              <a:rPr lang="zh-CN" altLang="en-US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批量请购</a:t>
            </a:r>
            <a:r>
              <a:rPr lang="zh-CN" altLang="en-US" dirty="0">
                <a:latin typeface="Calibri" panose="020F0502020204030204" charset="0"/>
                <a:ea typeface="宋体" panose="02010600030101010101" pitchFamily="2" charset="-122"/>
              </a:rPr>
              <a:t>常用物料。</a:t>
            </a:r>
            <a:endParaRPr lang="zh-CN" altLang="en-US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" y="1974850"/>
            <a:ext cx="8905240" cy="466661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3660" y="149860"/>
            <a:ext cx="90487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noProof="0" dirty="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  <a:sym typeface="+mn-ea"/>
              </a:rPr>
              <a:t>采购管理</a:t>
            </a:r>
            <a:r>
              <a:rPr lang="en-US" altLang="zh-CN" sz="2800" b="1" dirty="0" smtClean="0">
                <a:solidFill>
                  <a:schemeClr val="accent6">
                    <a:lumMod val="75000"/>
                  </a:schemeClr>
                </a:solidFill>
                <a:sym typeface="+mn-ea"/>
              </a:rPr>
              <a:t>-</a:t>
            </a:r>
            <a:r>
              <a:rPr lang="zh-CN" altLang="en-US" sz="2800" b="1" dirty="0" smtClean="0">
                <a:solidFill>
                  <a:schemeClr val="accent6">
                    <a:lumMod val="75000"/>
                  </a:schemeClr>
                </a:solidFill>
                <a:sym typeface="+mn-ea"/>
              </a:rPr>
              <a:t>采购申请单</a:t>
            </a:r>
            <a:endParaRPr lang="zh-CN" altLang="en-US" sz="2800" b="1" dirty="0" smtClean="0">
              <a:solidFill>
                <a:schemeClr val="accent6">
                  <a:lumMod val="75000"/>
                </a:schemeClr>
              </a:solidFill>
              <a:sym typeface="+mn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0" y="705396"/>
            <a:ext cx="9144000" cy="4009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2" y="-1984"/>
            <a:ext cx="1897752" cy="6739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矩形 19"/>
          <p:cNvSpPr/>
          <p:nvPr/>
        </p:nvSpPr>
        <p:spPr>
          <a:xfrm>
            <a:off x="102870" y="2861945"/>
            <a:ext cx="756285" cy="129540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219075" y="3023235"/>
            <a:ext cx="640080" cy="127000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00" name="文本框 1"/>
          <p:cNvSpPr txBox="1"/>
          <p:nvPr/>
        </p:nvSpPr>
        <p:spPr>
          <a:xfrm>
            <a:off x="-3810" y="746125"/>
            <a:ext cx="9124950" cy="67564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eaLnBrk="0" hangingPunct="0">
              <a:buFont typeface="Arial" panose="020B0604020202020204" pitchFamily="34" charset="0"/>
              <a:buNone/>
            </a:pPr>
            <a:r>
              <a:rPr lang="zh-CN" altLang="en-US" sz="2400" b="1" dirty="0">
                <a:latin typeface="Calibri" panose="020F0502020204030204" charset="0"/>
                <a:ea typeface="宋体" panose="02010600030101010101" pitchFamily="2" charset="-122"/>
              </a:rPr>
              <a:t>采购申请单用途：</a:t>
            </a:r>
            <a:r>
              <a:rPr lang="zh-CN" altLang="en-US" sz="14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严格控制订单需要购买的材料（</a:t>
            </a:r>
            <a:r>
              <a:rPr lang="zh-CN" altLang="en-US" sz="1400" dirty="0" smtClean="0">
                <a:sym typeface="+mn-ea"/>
              </a:rPr>
              <a:t>买多少物料、到哪里买、多少资金预算，预算交期</a:t>
            </a:r>
            <a:endParaRPr lang="zh-CN" altLang="en-US" sz="1400" dirty="0" smtClean="0">
              <a:sym typeface="+mn-ea"/>
            </a:endParaRPr>
          </a:p>
          <a:p>
            <a:pPr eaLnBrk="0" hangingPunct="0">
              <a:buFont typeface="Arial" panose="020B0604020202020204" pitchFamily="34" charset="0"/>
              <a:buNone/>
            </a:pPr>
            <a:r>
              <a:rPr lang="zh-CN" altLang="en-US" sz="1400" dirty="0" smtClean="0">
                <a:sym typeface="+mn-ea"/>
              </a:rPr>
              <a:t> ）。通俗说法：批数量、批供应商、 批单价、批交期。</a:t>
            </a:r>
            <a:endParaRPr lang="zh-CN" altLang="en-US" sz="1400" dirty="0"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4101" name="文本框 1"/>
          <p:cNvSpPr txBox="1"/>
          <p:nvPr/>
        </p:nvSpPr>
        <p:spPr>
          <a:xfrm>
            <a:off x="12065" y="1353185"/>
            <a:ext cx="8917940" cy="33718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eaLnBrk="0" hangingPunct="0">
              <a:buFont typeface="Arial" panose="020B0604020202020204" pitchFamily="34" charset="0"/>
              <a:buNone/>
            </a:pPr>
            <a:r>
              <a:rPr lang="zh-CN" altLang="en-US" sz="1600" b="1" dirty="0">
                <a:latin typeface="Calibri" panose="020F0502020204030204" charset="0"/>
                <a:ea typeface="宋体" panose="02010600030101010101" pitchFamily="2" charset="-122"/>
              </a:rPr>
              <a:t>方法</a:t>
            </a:r>
            <a:r>
              <a:rPr lang="en-US" altLang="zh-CN" sz="1600" b="1" dirty="0">
                <a:latin typeface="Calibri" panose="020F0502020204030204" charset="0"/>
                <a:ea typeface="宋体" panose="02010600030101010101" pitchFamily="2" charset="-122"/>
              </a:rPr>
              <a:t>1</a:t>
            </a:r>
            <a:r>
              <a:rPr lang="zh-CN" altLang="en-US" sz="1600" b="1" dirty="0">
                <a:latin typeface="Calibri" panose="020F0502020204030204" charset="0"/>
                <a:ea typeface="宋体" panose="02010600030101010101" pitchFamily="2" charset="-122"/>
              </a:rPr>
              <a:t>（有来源单据：销售订货单、外发加工单、补料单）操作方法如下：</a:t>
            </a:r>
            <a:endParaRPr lang="zh-CN" altLang="en-US" sz="1600" b="1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4102" name="文本框 1"/>
          <p:cNvSpPr txBox="1"/>
          <p:nvPr/>
        </p:nvSpPr>
        <p:spPr>
          <a:xfrm>
            <a:off x="-2540" y="1690370"/>
            <a:ext cx="9124315" cy="27559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eaLnBrk="0" hangingPunc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</a:rPr>
              <a:t>第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</a:rPr>
              <a:t>1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</a:rPr>
              <a:t>步：通过主菜单→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</a:rPr>
              <a:t>1.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</a:rPr>
              <a:t>点【 采购管理】→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</a:rPr>
              <a:t>2.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</a:rPr>
              <a:t>【采购申请单】。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</a:rPr>
              <a:t>                    </a:t>
            </a:r>
            <a:endParaRPr lang="zh-CN" altLang="en-US" sz="1200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7" name="矩形标注 6"/>
          <p:cNvSpPr/>
          <p:nvPr/>
        </p:nvSpPr>
        <p:spPr>
          <a:xfrm>
            <a:off x="1586865" y="3150870"/>
            <a:ext cx="1352550" cy="360680"/>
          </a:xfrm>
          <a:prstGeom prst="wedgeRectCallout">
            <a:avLst>
              <a:gd name="adj1" fmla="val -102629"/>
              <a:gd name="adj2" fmla="val -73767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1600" b="1" strike="noStrike" noProof="1">
                <a:solidFill>
                  <a:schemeClr val="tx1"/>
                </a:solidFill>
              </a:rPr>
              <a:t>2.</a:t>
            </a:r>
            <a:r>
              <a:rPr lang="zh-CN" altLang="en-US" sz="1200" strike="noStrike" noProof="1">
                <a:solidFill>
                  <a:schemeClr val="tx1"/>
                </a:solidFill>
              </a:rPr>
              <a:t>点采购申请单</a:t>
            </a:r>
            <a:endParaRPr lang="zh-CN" altLang="zh-CN" sz="1200" strike="noStrike" noProof="1">
              <a:solidFill>
                <a:schemeClr val="tx1"/>
              </a:solidFill>
            </a:endParaRPr>
          </a:p>
        </p:txBody>
      </p:sp>
      <p:sp>
        <p:nvSpPr>
          <p:cNvPr id="3" name="矩形标注 2"/>
          <p:cNvSpPr/>
          <p:nvPr/>
        </p:nvSpPr>
        <p:spPr>
          <a:xfrm>
            <a:off x="1659890" y="2399665"/>
            <a:ext cx="1144905" cy="335280"/>
          </a:xfrm>
          <a:prstGeom prst="wedgeRectCallout">
            <a:avLst>
              <a:gd name="adj1" fmla="val -120493"/>
              <a:gd name="adj2" fmla="val 108143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1600" b="1" strike="noStrike" noProof="1">
                <a:solidFill>
                  <a:schemeClr val="tx1"/>
                </a:solidFill>
              </a:rPr>
              <a:t>1.</a:t>
            </a:r>
            <a:r>
              <a:rPr lang="zh-CN" altLang="en-US" sz="1200" strike="noStrike" noProof="1">
                <a:solidFill>
                  <a:schemeClr val="tx1"/>
                </a:solidFill>
              </a:rPr>
              <a:t>点采购管理</a:t>
            </a:r>
            <a:endParaRPr lang="zh-CN" altLang="en-US" sz="1200" strike="noStrike" noProof="1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ldLvl="0" animBg="1"/>
      <p:bldP spid="3" grpId="0" animBg="1"/>
      <p:bldP spid="30" grpId="0" bldLvl="0" animBg="1"/>
      <p:bldP spid="7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0" y="1378585"/>
            <a:ext cx="8977630" cy="536638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736214" y="141605"/>
            <a:ext cx="49321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采购管理</a:t>
            </a:r>
            <a:r>
              <a:rPr lang="en-US" altLang="zh-CN" sz="2800" b="1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-</a:t>
            </a: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采购申请单</a:t>
            </a:r>
            <a:endParaRPr lang="zh-CN" altLang="en-US" sz="28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0" y="705396"/>
            <a:ext cx="9144000" cy="4009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2" y="-1984"/>
            <a:ext cx="1897752" cy="6739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文本框 2"/>
          <p:cNvSpPr txBox="1"/>
          <p:nvPr/>
        </p:nvSpPr>
        <p:spPr>
          <a:xfrm>
            <a:off x="3810" y="734060"/>
            <a:ext cx="9139555" cy="5708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第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2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步：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1.</a:t>
            </a:r>
            <a:r>
              <a:rPr lang="zh-CN" altLang="zh-CN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点选择，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按需要点来源单据→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2.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在弹出框内输入筛选条件（如：订单号、款号等）按回车→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3.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勾选需要申请的订单→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4.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点确定后系统会自动跳转到采购申请单页面。</a:t>
            </a:r>
            <a:endParaRPr lang="zh-CN" altLang="en-US" sz="1200" dirty="0"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3910" y="2108835"/>
            <a:ext cx="1100455" cy="744220"/>
          </a:xfrm>
          <a:prstGeom prst="rect">
            <a:avLst/>
          </a:prstGeom>
        </p:spPr>
      </p:pic>
      <p:sp>
        <p:nvSpPr>
          <p:cNvPr id="8" name="矩形标注 7"/>
          <p:cNvSpPr/>
          <p:nvPr/>
        </p:nvSpPr>
        <p:spPr>
          <a:xfrm>
            <a:off x="1826260" y="1378585"/>
            <a:ext cx="1663700" cy="433705"/>
          </a:xfrm>
          <a:prstGeom prst="wedgeRectCallout">
            <a:avLst>
              <a:gd name="adj1" fmla="val 39656"/>
              <a:gd name="adj2" fmla="val 79282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1600" b="1" strike="noStrike" noProof="1">
                <a:solidFill>
                  <a:schemeClr val="tx1"/>
                </a:solidFill>
              </a:rPr>
              <a:t>1.</a:t>
            </a:r>
            <a:r>
              <a:rPr lang="zh-CN" altLang="en-US" sz="1200" strike="noStrike" noProof="1">
                <a:solidFill>
                  <a:schemeClr val="tx1"/>
                </a:solidFill>
              </a:rPr>
              <a:t>点</a:t>
            </a:r>
            <a:r>
              <a:rPr lang="zh-CN" altLang="zh-CN" sz="1200" dirty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选择，</a:t>
            </a:r>
            <a:r>
              <a:rPr lang="zh-CN" altLang="en-US" sz="1200" dirty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按需要点来源单据</a:t>
            </a:r>
            <a:endParaRPr lang="zh-CN" altLang="en-US" sz="1200" strike="noStrike" noProof="1" dirty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343910" y="1957070"/>
            <a:ext cx="1100455" cy="887095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8085" y="2908300"/>
            <a:ext cx="5621020" cy="2997200"/>
          </a:xfrm>
          <a:prstGeom prst="rect">
            <a:avLst/>
          </a:prstGeom>
        </p:spPr>
      </p:pic>
      <p:sp>
        <p:nvSpPr>
          <p:cNvPr id="21" name="矩形 20"/>
          <p:cNvSpPr/>
          <p:nvPr/>
        </p:nvSpPr>
        <p:spPr>
          <a:xfrm>
            <a:off x="2512060" y="3029585"/>
            <a:ext cx="4247515" cy="395605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2512060" y="3584575"/>
            <a:ext cx="3272790" cy="111125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7392035" y="5739130"/>
            <a:ext cx="358775" cy="193040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矩形标注 25"/>
          <p:cNvSpPr/>
          <p:nvPr/>
        </p:nvSpPr>
        <p:spPr>
          <a:xfrm>
            <a:off x="440055" y="2908300"/>
            <a:ext cx="1628140" cy="666115"/>
          </a:xfrm>
          <a:prstGeom prst="wedgeRectCallout">
            <a:avLst>
              <a:gd name="adj1" fmla="val 75429"/>
              <a:gd name="adj2" fmla="val -7959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1600" b="1" strike="noStrike" noProof="1">
                <a:solidFill>
                  <a:schemeClr val="tx1"/>
                </a:solidFill>
              </a:rPr>
              <a:t>2.</a:t>
            </a:r>
            <a:r>
              <a:rPr lang="zh-CN" altLang="en-US" sz="1200" dirty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弹出框内输入筛选条件（如：订单号、款号等）按回车</a:t>
            </a:r>
            <a:endParaRPr lang="zh-CN" altLang="en-US" sz="1200" strike="noStrike" noProof="1" dirty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7" name="矩形标注 26"/>
          <p:cNvSpPr/>
          <p:nvPr/>
        </p:nvSpPr>
        <p:spPr>
          <a:xfrm>
            <a:off x="3167380" y="4090670"/>
            <a:ext cx="1690370" cy="288925"/>
          </a:xfrm>
          <a:prstGeom prst="wedgeRectCallout">
            <a:avLst>
              <a:gd name="adj1" fmla="val -29526"/>
              <a:gd name="adj2" fmla="val -185824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1600" b="1" strike="noStrike" noProof="1">
                <a:solidFill>
                  <a:schemeClr val="tx1"/>
                </a:solidFill>
              </a:rPr>
              <a:t>3.</a:t>
            </a:r>
            <a:r>
              <a:rPr lang="zh-CN" altLang="en-US" sz="1200" dirty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选需要申请的订单</a:t>
            </a:r>
            <a:endParaRPr lang="zh-CN" altLang="en-US" sz="1200" strike="noStrike" noProof="1" dirty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8" name="矩形标注 27"/>
          <p:cNvSpPr/>
          <p:nvPr/>
        </p:nvSpPr>
        <p:spPr>
          <a:xfrm>
            <a:off x="6991985" y="5280025"/>
            <a:ext cx="843280" cy="282575"/>
          </a:xfrm>
          <a:prstGeom prst="wedgeRectCallout">
            <a:avLst>
              <a:gd name="adj1" fmla="val 21611"/>
              <a:gd name="adj2" fmla="val 105056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1600" b="1" strike="noStrike" noProof="1">
                <a:solidFill>
                  <a:schemeClr val="tx1"/>
                </a:solidFill>
              </a:rPr>
              <a:t>4.</a:t>
            </a:r>
            <a:r>
              <a:rPr lang="zh-CN" altLang="en-US" sz="1200" dirty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点确定</a:t>
            </a:r>
            <a:endParaRPr lang="zh-CN" altLang="en-US" sz="1200" strike="noStrike" noProof="1" dirty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9" name="文本框 20"/>
          <p:cNvSpPr txBox="1"/>
          <p:nvPr/>
        </p:nvSpPr>
        <p:spPr>
          <a:xfrm>
            <a:off x="107950" y="5164455"/>
            <a:ext cx="6812280" cy="132207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square" anchor="t">
            <a:spAutoFit/>
          </a:bodyPr>
          <a:p>
            <a:pPr algn="l"/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小窍门：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、选择订单物料、选择订单包材：适用于按销售订货单购买物料。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、选择外发加工单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物料、外发加工单包材：适用于外发加工单购买物料。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3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、</a:t>
            </a:r>
            <a:r>
              <a:rPr lang="zh-CN" altLang="en-US" sz="11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★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在弹出框内为红色字体提醒时，表示订单没有物料明细（即没有生成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BOM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，请通知相关人员进行处理）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algn="l"/>
            <a:r>
              <a:rPr 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、启用日期：启用日期没有勾选，查找范围就不受时间限制。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en-US" sz="11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★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一张销售订货单只能做一次采购申请单。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6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en-US" sz="11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★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可以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合并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多张销售订货单做采购申请。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26" grpId="0" animBg="1"/>
      <p:bldP spid="21" grpId="0" animBg="1"/>
      <p:bldP spid="22" grpId="0" animBg="1"/>
      <p:bldP spid="27" grpId="0" animBg="1"/>
      <p:bldP spid="28" grpId="0" animBg="1"/>
      <p:bldP spid="25" grpId="0" animBg="1"/>
      <p:bldP spid="2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/>
          <p:cNvSpPr txBox="1"/>
          <p:nvPr/>
        </p:nvSpPr>
        <p:spPr>
          <a:xfrm>
            <a:off x="2736214" y="141605"/>
            <a:ext cx="49321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采购管理</a:t>
            </a:r>
            <a:r>
              <a:rPr lang="en-US" altLang="zh-CN" sz="2800" b="1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-</a:t>
            </a: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采购申请单</a:t>
            </a:r>
            <a:endParaRPr lang="zh-CN" altLang="en-US" sz="28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0" y="705396"/>
            <a:ext cx="9144000" cy="4009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2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2" y="-1984"/>
            <a:ext cx="1897752" cy="6739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文本框 2"/>
          <p:cNvSpPr txBox="1"/>
          <p:nvPr/>
        </p:nvSpPr>
        <p:spPr>
          <a:xfrm>
            <a:off x="3810" y="734060"/>
            <a:ext cx="9139555" cy="5708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第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2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步：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1.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在子表内输入相关信息（如：不订购、供应商、首次批准数量、批准采购单价、交货日期等）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申请数量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→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2.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点保存→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3.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勾选需要审核的物料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点审核（审核权限参考权限表）。</a:t>
            </a:r>
            <a:endParaRPr lang="en-US" altLang="zh-CN" sz="1200" dirty="0"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25" y="1234440"/>
            <a:ext cx="8905240" cy="539115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85750" y="2779395"/>
            <a:ext cx="8593455" cy="334010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标注 6"/>
          <p:cNvSpPr/>
          <p:nvPr/>
        </p:nvSpPr>
        <p:spPr>
          <a:xfrm>
            <a:off x="5635625" y="1327785"/>
            <a:ext cx="1653540" cy="405130"/>
          </a:xfrm>
          <a:prstGeom prst="wedgeRectCallout">
            <a:avLst>
              <a:gd name="adj1" fmla="val -79723"/>
              <a:gd name="adj2" fmla="val 80250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1600" b="1" strike="noStrike" noProof="1">
                <a:solidFill>
                  <a:schemeClr val="tx1"/>
                </a:solidFill>
              </a:rPr>
              <a:t>3.</a:t>
            </a:r>
            <a:r>
              <a:rPr lang="zh-CN" altLang="en-US" sz="1200" dirty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勾选需要审核的物料点审核</a:t>
            </a:r>
            <a:endParaRPr lang="zh-CN" altLang="en-US" sz="1200" strike="noStrike" noProof="1" dirty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0" name="矩形标注 9"/>
          <p:cNvSpPr/>
          <p:nvPr/>
        </p:nvSpPr>
        <p:spPr>
          <a:xfrm>
            <a:off x="1418590" y="3280410"/>
            <a:ext cx="6732905" cy="306705"/>
          </a:xfrm>
          <a:prstGeom prst="wedgeRectCallout">
            <a:avLst>
              <a:gd name="adj1" fmla="val -32580"/>
              <a:gd name="adj2" fmla="val -91549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1600" b="1" strike="noStrike" noProof="1">
                <a:solidFill>
                  <a:schemeClr val="tx1"/>
                </a:solidFill>
              </a:rPr>
              <a:t>1.</a:t>
            </a:r>
            <a:r>
              <a:rPr lang="zh-CN" altLang="en-US" sz="1200" dirty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在子表内输入相关信息（如：不订购、供应商、首次批准数量、批准采购单价、交货日期等）</a:t>
            </a:r>
            <a:endParaRPr lang="zh-CN" altLang="en-US" sz="1200" strike="noStrike" noProof="1" dirty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1" name="矩形标注 10"/>
          <p:cNvSpPr/>
          <p:nvPr/>
        </p:nvSpPr>
        <p:spPr>
          <a:xfrm>
            <a:off x="4016375" y="1443990"/>
            <a:ext cx="832485" cy="288925"/>
          </a:xfrm>
          <a:prstGeom prst="wedgeRectCallout">
            <a:avLst>
              <a:gd name="adj1" fmla="val 39168"/>
              <a:gd name="adj2" fmla="val 98791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1600" b="1" strike="noStrike" noProof="1">
                <a:solidFill>
                  <a:schemeClr val="tx1"/>
                </a:solidFill>
              </a:rPr>
              <a:t>2.</a:t>
            </a:r>
            <a:r>
              <a:rPr lang="zh-CN" altLang="en-US" sz="1200" dirty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点保存</a:t>
            </a:r>
            <a:endParaRPr lang="en-US" altLang="zh-CN" sz="1200" strike="noStrike" noProof="1" dirty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6445" y="1845945"/>
            <a:ext cx="333375" cy="156845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4943475" y="1845945"/>
            <a:ext cx="395605" cy="157480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20"/>
          <p:cNvSpPr txBox="1"/>
          <p:nvPr/>
        </p:nvSpPr>
        <p:spPr>
          <a:xfrm>
            <a:off x="197485" y="3628390"/>
            <a:ext cx="8806815" cy="301498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square" anchor="t">
            <a:spAutoFit/>
          </a:bodyPr>
          <a:p>
            <a:pPr algn="l"/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小窍门：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、如果物料不用订购，勾选不订购。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供应商、供方货号、供应商单价：默认带出【物料供应商资料】中设置的主供应商信息（供方货号，采购单价），可进行手工修改。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、双击款号列表，可以看到物料单款用量。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、申请数量：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指来源于销售订货单物料明细的需求用量或净需求用量（净需求可在参数设置中设定。） 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、申请增加数量：可自定义增加或减少申请的数量（减少数量时，需要输入负数）。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6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、首次批准数量：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记录首次批准的物料（只要是审核后，变更后在刷新此列不会有任何变化。）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7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、补订数量、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退订数量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首次审核后，订单或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BOM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发生变更，造成物料用量增加或减少，刷新后会在补订数量显示（减少会在退订数量显示，  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algn="l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增加会在补订数量显示）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、现有库存、可用库存：来源于【销售订货单】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【物料明细】页版内的数据。双击可查看现有库存与可用库存。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9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、批准采购单价：当系统参数设置采购订货单单价来源于批准单价时，此处输入的单价会自动带入到采购订货单中。当采购订货单中单价超   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   过批准采购单价时，系统会提示需要特权密码审核后才允许通过。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、参考进价、参考金额：为了做订单物料金额预算。数据来源于物料资料的参考进价，参考金额会自动计算。如物料资料参考进价有修改，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   可点刷新</a:t>
            </a:r>
            <a:r>
              <a:rPr lang="zh-CN" altLang="en-US" sz="11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→刷新参考进价，系统会根据刷新后的参考进价重新计算参考金额。</a:t>
            </a:r>
            <a:endParaRPr lang="zh-CN" altLang="en-US" sz="1100" dirty="0"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  <a:p>
            <a:pPr algn="l"/>
            <a:r>
              <a:rPr lang="en-US" altLang="zh-CN" sz="11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11</a:t>
            </a:r>
            <a:r>
              <a:rPr lang="zh-CN" altLang="en-US" sz="11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、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审核：</a:t>
            </a:r>
            <a:r>
              <a:rPr lang="zh-CN" altLang="en-US" sz="1100" dirty="0">
                <a:sym typeface="+mn-ea"/>
              </a:rPr>
              <a:t>采购申请单内可按实际需要进行物料分批审核。</a:t>
            </a:r>
            <a:r>
              <a:rPr lang="zh-CN" altLang="en-US" sz="1100" dirty="0">
                <a:latin typeface="宋体" panose="02010600030101010101" pitchFamily="2" charset="-122"/>
                <a:sym typeface="+mn-ea"/>
              </a:rPr>
              <a:t>物料审核后，方可进行下一流程（审核后可以进行采购订货单的操作）。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1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12</a:t>
            </a:r>
            <a:r>
              <a:rPr lang="zh-CN" altLang="en-US" sz="11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、在物料资料中设定采购员后，在此处可以分采购员申请。</a:t>
            </a:r>
            <a:endParaRPr lang="zh-CN" altLang="en-US" sz="1100" dirty="0"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13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、核对：勾选了核对后，字体会变为绿色。表示此条数据经过确认。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6" grpId="0" bldLvl="0" animBg="1"/>
      <p:bldP spid="12" grpId="0" bldLvl="0" animBg="1"/>
      <p:bldP spid="11" grpId="0" bldLvl="0" animBg="1"/>
      <p:bldP spid="13" grpId="0" bldLvl="0" animBg="1"/>
      <p:bldP spid="7" grpId="0" bldLvl="0" animBg="1"/>
      <p:bldP spid="15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" name="TextBox 22"/>
          <p:cNvSpPr txBox="1"/>
          <p:nvPr/>
        </p:nvSpPr>
        <p:spPr>
          <a:xfrm>
            <a:off x="2330450" y="74613"/>
            <a:ext cx="4943475" cy="520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ctr" defTabSz="9144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2800" b="1" kern="1200" cap="none" spc="0" normalizeH="0" baseline="0" noProof="0" dirty="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  <a:cs typeface="+mn-cs"/>
                <a:sym typeface="+mn-ea"/>
              </a:rPr>
              <a:t>采购管理</a:t>
            </a:r>
            <a:r>
              <a:rPr kumimoji="0" lang="en-US" altLang="zh-CN" sz="2800" b="1" kern="1200" cap="none" spc="0" normalizeH="0" baseline="0" noProof="0" dirty="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  <a:cs typeface="+mn-cs"/>
                <a:sym typeface="+mn-ea"/>
              </a:rPr>
              <a:t>-</a:t>
            </a:r>
            <a:r>
              <a:rPr kumimoji="0" lang="zh-CN" altLang="en-US" sz="2800" b="1" kern="1200" cap="none" spc="0" normalizeH="0" baseline="0" noProof="0" dirty="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  <a:cs typeface="+mn-cs"/>
                <a:sym typeface="+mn-ea"/>
              </a:rPr>
              <a:t>采购申请单</a:t>
            </a:r>
            <a:endParaRPr kumimoji="0" lang="zh-CN" altLang="en-US" sz="2800" b="1" kern="1200" cap="none" spc="0" normalizeH="0" baseline="0" noProof="0" dirty="0">
              <a:solidFill>
                <a:schemeClr val="accent6">
                  <a:lumMod val="75000"/>
                </a:schemeClr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0" y="704850"/>
            <a:ext cx="9144000" cy="4127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4339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" y="-1587"/>
            <a:ext cx="1898650" cy="6731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340" name="文本框 5"/>
          <p:cNvSpPr txBox="1"/>
          <p:nvPr/>
        </p:nvSpPr>
        <p:spPr>
          <a:xfrm>
            <a:off x="10795" y="1303020"/>
            <a:ext cx="9123045" cy="203009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｛申请单号、申请日期｝：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用与输入该申请单的申请单号、申请日期。申请单号可由系统自动产生，也可手动修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                        改。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｛来源类型｝：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注明该申请单是来自销售订货单还是补料单。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｛订购状态｝：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用于筛查需订购物料与不订购物料。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lang="zh-CN" altLang="en-US" sz="1400" b="1" dirty="0">
                <a:latin typeface="宋体" panose="02010600030101010101" pitchFamily="2" charset="-122"/>
                <a:sym typeface="宋体" panose="02010600030101010101" pitchFamily="2" charset="-122"/>
              </a:rPr>
              <a:t>｛</a:t>
            </a:r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条件选择框包含</a:t>
            </a:r>
            <a:r>
              <a:rPr lang="zh-CN" altLang="en-US" sz="1400" b="1" dirty="0">
                <a:latin typeface="宋体" panose="02010600030101010101" pitchFamily="2" charset="-122"/>
                <a:sym typeface="宋体" panose="02010600030101010101" pitchFamily="2" charset="-122"/>
              </a:rPr>
              <a:t>｝</a:t>
            </a:r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：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用于筛选需订购的物料方便操作</a:t>
            </a:r>
            <a:r>
              <a:rPr lang="zh-CN" altLang="en-US" sz="1400" dirty="0">
                <a:latin typeface="宋体" panose="02010600030101010101" pitchFamily="2" charset="-122"/>
                <a:sym typeface="宋体" panose="02010600030101010101" pitchFamily="2" charset="-122"/>
              </a:rPr>
              <a:t>（物料名称、物料编号、规格、物料分类、供应商、款号列</a:t>
            </a:r>
            <a:endParaRPr lang="zh-CN" altLang="en-US" sz="1400" dirty="0">
              <a:latin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lang="zh-CN" altLang="en-US" sz="1400" dirty="0">
                <a:latin typeface="宋体" panose="02010600030101010101" pitchFamily="2" charset="-122"/>
                <a:sym typeface="宋体" panose="02010600030101010101" pitchFamily="2" charset="-122"/>
              </a:rPr>
              <a:t>                    表）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。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｛备注｝：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用于填写该申请单的主表备注说明。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｛创建人、修改人、审核人｝：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记录该订单相关的操作员是谁。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｛创建时间、修改时间、审核时间｝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：记录该订单的相关操作时间是说明时间。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4341" name="文本框 2"/>
          <p:cNvSpPr txBox="1"/>
          <p:nvPr/>
        </p:nvSpPr>
        <p:spPr>
          <a:xfrm>
            <a:off x="10795" y="808355"/>
            <a:ext cx="913447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采购申请单主表字段解释：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" name="TextBox 22"/>
          <p:cNvSpPr txBox="1"/>
          <p:nvPr/>
        </p:nvSpPr>
        <p:spPr>
          <a:xfrm>
            <a:off x="2330450" y="74613"/>
            <a:ext cx="4943475" cy="520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ctr" defTabSz="9144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2800" b="1" kern="1200" cap="none" spc="0" normalizeH="0" baseline="0" noProof="0" dirty="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  <a:cs typeface="+mn-cs"/>
                <a:sym typeface="+mn-ea"/>
              </a:rPr>
              <a:t>采购管理</a:t>
            </a:r>
            <a:r>
              <a:rPr kumimoji="0" lang="en-US" altLang="zh-CN" sz="2800" b="1" kern="1200" cap="none" spc="0" normalizeH="0" baseline="0" noProof="0" dirty="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  <a:cs typeface="+mn-cs"/>
                <a:sym typeface="+mn-ea"/>
              </a:rPr>
              <a:t>-</a:t>
            </a:r>
            <a:r>
              <a:rPr kumimoji="0" lang="zh-CN" altLang="en-US" sz="2800" b="1" kern="1200" cap="none" spc="0" normalizeH="0" baseline="0" noProof="0" dirty="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  <a:cs typeface="+mn-cs"/>
                <a:sym typeface="+mn-ea"/>
              </a:rPr>
              <a:t>采购申请单</a:t>
            </a:r>
            <a:endParaRPr kumimoji="0" lang="zh-CN" altLang="en-US" sz="2800" b="1" kern="1200" cap="none" spc="0" normalizeH="0" baseline="0" noProof="0" dirty="0">
              <a:solidFill>
                <a:schemeClr val="accent6">
                  <a:lumMod val="75000"/>
                </a:schemeClr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0" y="704850"/>
            <a:ext cx="9144000" cy="4127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2291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" y="-1587"/>
            <a:ext cx="1898650" cy="6731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292" name="文本框 2"/>
          <p:cNvSpPr txBox="1"/>
          <p:nvPr/>
        </p:nvSpPr>
        <p:spPr>
          <a:xfrm>
            <a:off x="0" y="746125"/>
            <a:ext cx="913447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采购申请单申请明细页版字段解释：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293" name="文本框 2"/>
          <p:cNvSpPr txBox="1"/>
          <p:nvPr/>
        </p:nvSpPr>
        <p:spPr>
          <a:xfrm>
            <a:off x="-57150" y="1030288"/>
            <a:ext cx="9188450" cy="484886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lnSpc>
                <a:spcPct val="130000"/>
              </a:lnSpc>
            </a:pPr>
            <a:r>
              <a:rPr lang="en-US" altLang="zh-CN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不订购</a:t>
            </a:r>
            <a:r>
              <a:rPr lang="en-US" altLang="zh-CN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确定物料是否要订购，如该材料使用批量订购的方式或库存数量可以满足订单需求，则勾上。在物料           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          分类中设置。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核对</a:t>
            </a:r>
            <a:r>
              <a:rPr lang="en-US" altLang="zh-CN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勾选后表示物料已经核对（字体颜色会变绿）。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审核</a:t>
            </a:r>
            <a:r>
              <a:rPr lang="en-US" altLang="zh-CN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1400" dirty="0">
                <a:sym typeface="+mn-ea"/>
              </a:rPr>
              <a:t>采购申请单内可按实际需要进行物料分批审核。</a:t>
            </a:r>
            <a:r>
              <a:rPr lang="zh-CN" altLang="en-US" sz="1400" dirty="0">
                <a:latin typeface="宋体" panose="02010600030101010101" pitchFamily="2" charset="-122"/>
                <a:sym typeface="+mn-ea"/>
              </a:rPr>
              <a:t>物料审核后，方可进行下一流程（审核后可以进行采购订</a:t>
            </a:r>
            <a:endParaRPr lang="zh-CN" altLang="en-US" sz="1400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zh-CN" altLang="en-US" sz="1400" dirty="0">
                <a:latin typeface="宋体" panose="02010600030101010101" pitchFamily="2" charset="-122"/>
                <a:sym typeface="+mn-ea"/>
              </a:rPr>
              <a:t>        货单的操作）。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我要催、催次、被催次</a:t>
            </a:r>
            <a:r>
              <a:rPr lang="en-US" altLang="zh-CN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：用于采购追料，并记录被追次数。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{款号列表、客户款号列表、客户产品名称列表、子单编号列表}：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记录订单材料使用在哪些款上。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                                                    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{物料分类、物料编号、物料名称、规格、颜色、</a:t>
            </a:r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起订量</a:t>
            </a:r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}：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记录关联的物料信息，在物料资料中增加好后可自动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           带出。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{采购员}：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记录物料是由那个采购员负责，在物料资料分类中可设定。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{申请数量}：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指来源于销售订货单物料明细的需求用量或净需求用量（净需求可在参数设置中设定。）  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{申请增加数量、申请增加比率}：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在物料申请数量上增加用量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可按数量、或百分比进行增加或填写负数，用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              于手工减可用库存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。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{首次批准数量}：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记录首次批准的物料（只要是审核后，变更后在刷新此列不会有任何变化。）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{补订数量、退订数量}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：首次审核后，订单或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BOM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发生变更，造成物料用量增加或减少，刷新后会在补订数量显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      示（减少会在退订数量显示，增加会在补订数量显示）。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{变更次数}：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物料发生变更后，变更的物料，点一次刷新就会记录一次。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{已订货数量}：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由采购订货单中的数量自动反填，便于查询跟踪。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{供应商单价}：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在物料资料中有填写供应商单价并在参数设置中设置启用之后，系统会自动带出供应商单价。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" name="TextBox 22"/>
          <p:cNvSpPr txBox="1"/>
          <p:nvPr/>
        </p:nvSpPr>
        <p:spPr>
          <a:xfrm>
            <a:off x="2330450" y="74613"/>
            <a:ext cx="4943475" cy="520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ctr" defTabSz="9144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2800" b="1" kern="1200" cap="none" spc="0" normalizeH="0" baseline="0" noProof="0" dirty="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  <a:cs typeface="+mn-cs"/>
                <a:sym typeface="+mn-ea"/>
              </a:rPr>
              <a:t>采购管理</a:t>
            </a:r>
            <a:r>
              <a:rPr kumimoji="0" lang="en-US" altLang="zh-CN" sz="2800" b="1" kern="1200" cap="none" spc="0" normalizeH="0" baseline="0" noProof="0" dirty="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  <a:cs typeface="+mn-cs"/>
                <a:sym typeface="+mn-ea"/>
              </a:rPr>
              <a:t>-</a:t>
            </a:r>
            <a:r>
              <a:rPr kumimoji="0" lang="zh-CN" altLang="en-US" sz="2800" b="1" kern="1200" cap="none" spc="0" normalizeH="0" baseline="0" noProof="0" dirty="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  <a:cs typeface="+mn-cs"/>
                <a:sym typeface="+mn-ea"/>
              </a:rPr>
              <a:t>采购申请单</a:t>
            </a:r>
            <a:endParaRPr kumimoji="0" lang="zh-CN" altLang="en-US" sz="2800" b="1" kern="1200" cap="none" spc="0" normalizeH="0" baseline="0" noProof="0" dirty="0">
              <a:solidFill>
                <a:schemeClr val="accent6">
                  <a:lumMod val="75000"/>
                </a:schemeClr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0" y="704850"/>
            <a:ext cx="9144000" cy="4127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2291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" y="-1587"/>
            <a:ext cx="1898650" cy="6731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292" name="文本框 2"/>
          <p:cNvSpPr txBox="1"/>
          <p:nvPr/>
        </p:nvSpPr>
        <p:spPr>
          <a:xfrm>
            <a:off x="0" y="746125"/>
            <a:ext cx="913447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采购申请单申请明细页版字段解释：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293" name="文本框 2"/>
          <p:cNvSpPr txBox="1"/>
          <p:nvPr/>
        </p:nvSpPr>
        <p:spPr>
          <a:xfrm>
            <a:off x="-57150" y="1030288"/>
            <a:ext cx="9188450" cy="20478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lnSpc>
                <a:spcPct val="130000"/>
              </a:lnSpc>
            </a:pPr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{批准采购单价、批准金额}：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作为采购订货单的采购单价标准，如果超过批准采购单价需进行特权审核。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{可用库存、现有库存}：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系统自动带出物料的库存信息，双击可用库存可进入可用库存明细页面。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{交货日期}：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要求采购材料交货日期。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{审核人、审核日期}：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记录审核该材料的信息的审核人、审核日期。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{特别说明、备注}：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记录该材料的特别说明、备注（可带入入仓单）。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{来源单号}：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记录该申请是来源什么单据的。（如：销售订货单，补料单等）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 b="1" dirty="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{</a:t>
            </a:r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结单、结单人、结单日期、</a:t>
            </a:r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结单原因</a:t>
            </a:r>
            <a:r>
              <a:rPr lang="en-US" altLang="zh-CN" sz="1400" b="1" dirty="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}</a:t>
            </a:r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：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用于终止物料申请，结单后就不允许在订购。</a:t>
            </a:r>
            <a:endParaRPr lang="en-US" altLang="zh-CN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330" y="1734185"/>
            <a:ext cx="8856345" cy="507746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3660" y="149860"/>
            <a:ext cx="90487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noProof="0" dirty="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  <a:sym typeface="+mn-ea"/>
              </a:rPr>
              <a:t>采购管理</a:t>
            </a:r>
            <a:r>
              <a:rPr lang="en-US" altLang="zh-CN" sz="2800" b="1" dirty="0" smtClean="0">
                <a:solidFill>
                  <a:schemeClr val="accent6">
                    <a:lumMod val="75000"/>
                  </a:schemeClr>
                </a:solidFill>
                <a:sym typeface="+mn-ea"/>
              </a:rPr>
              <a:t>-</a:t>
            </a:r>
            <a:r>
              <a:rPr lang="zh-CN" altLang="en-US" sz="2800" b="1" dirty="0" smtClean="0">
                <a:solidFill>
                  <a:schemeClr val="accent6">
                    <a:lumMod val="75000"/>
                  </a:schemeClr>
                </a:solidFill>
                <a:sym typeface="+mn-ea"/>
              </a:rPr>
              <a:t>采购申请单</a:t>
            </a:r>
            <a:endParaRPr lang="zh-CN" altLang="en-US" sz="2800" b="1" dirty="0" smtClean="0">
              <a:solidFill>
                <a:schemeClr val="accent6">
                  <a:lumMod val="75000"/>
                </a:schemeClr>
              </a:solidFill>
              <a:sym typeface="+mn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0" y="705396"/>
            <a:ext cx="9144000" cy="4009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2" y="-1984"/>
            <a:ext cx="1897752" cy="6739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矩形 19"/>
          <p:cNvSpPr/>
          <p:nvPr/>
        </p:nvSpPr>
        <p:spPr>
          <a:xfrm>
            <a:off x="782955" y="3023235"/>
            <a:ext cx="461010" cy="129540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201295" y="3023235"/>
            <a:ext cx="542290" cy="135890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00" name="文本框 1"/>
          <p:cNvSpPr txBox="1"/>
          <p:nvPr/>
        </p:nvSpPr>
        <p:spPr>
          <a:xfrm>
            <a:off x="-3810" y="746125"/>
            <a:ext cx="912495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eaLnBrk="0" hangingPunct="0">
              <a:buFont typeface="Arial" panose="020B0604020202020204" pitchFamily="34" charset="0"/>
              <a:buNone/>
            </a:pPr>
            <a:r>
              <a:rPr lang="zh-CN" altLang="en-US" sz="2400" b="1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申请汇总页版</a:t>
            </a:r>
            <a:r>
              <a:rPr lang="zh-CN" altLang="en-US" sz="2400" b="1" dirty="0">
                <a:latin typeface="Calibri" panose="020F0502020204030204" charset="0"/>
                <a:ea typeface="宋体" panose="02010600030101010101" pitchFamily="2" charset="-122"/>
              </a:rPr>
              <a:t>用途：</a:t>
            </a:r>
            <a:r>
              <a:rPr lang="zh-CN" altLang="en-US" sz="1400" dirty="0">
                <a:latin typeface="Calibri" panose="020F0502020204030204" charset="0"/>
                <a:ea typeface="宋体" panose="02010600030101010101" pitchFamily="2" charset="-122"/>
              </a:rPr>
              <a:t>合并多张订单相同物料汇总申请。</a:t>
            </a:r>
            <a:endParaRPr lang="zh-CN" altLang="en-US" sz="1400" dirty="0"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4101" name="文本框 1"/>
          <p:cNvSpPr txBox="1"/>
          <p:nvPr/>
        </p:nvSpPr>
        <p:spPr>
          <a:xfrm>
            <a:off x="10160" y="1112520"/>
            <a:ext cx="8917940" cy="33718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eaLnBrk="0" hangingPunct="0">
              <a:buFont typeface="Arial" panose="020B0604020202020204" pitchFamily="34" charset="0"/>
              <a:buNone/>
            </a:pPr>
            <a:r>
              <a:rPr lang="zh-CN" altLang="en-US" sz="1600" b="1" dirty="0">
                <a:latin typeface="Calibri" panose="020F0502020204030204" charset="0"/>
                <a:ea typeface="宋体" panose="02010600030101010101" pitchFamily="2" charset="-122"/>
              </a:rPr>
              <a:t>操作方法如下：</a:t>
            </a:r>
            <a:endParaRPr lang="zh-CN" altLang="en-US" sz="1600" b="1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4102" name="文本框 1"/>
          <p:cNvSpPr txBox="1"/>
          <p:nvPr/>
        </p:nvSpPr>
        <p:spPr>
          <a:xfrm>
            <a:off x="-3175" y="1356360"/>
            <a:ext cx="912431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eaLnBrk="0" hangingPunc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</a:rPr>
              <a:t>第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</a:rPr>
              <a:t>1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</a:rPr>
              <a:t>步：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</a:rPr>
              <a:t>1.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</a:rPr>
              <a:t>点申请汇总页版→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</a:rPr>
              <a:t>2.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</a:rPr>
              <a:t>点物料汇总→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</a:rPr>
              <a:t>3.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在子表内输入相关信息（如：不订购、供应商、首次批准数量、批准采购单价、交货日期</a:t>
            </a:r>
            <a:endParaRPr lang="zh-CN" altLang="en-US" sz="1200" dirty="0"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  <a:p>
            <a:pPr eaLnBrk="0" hangingPunc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               等）→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4.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点物料分配汇总数据则会自动分配到申请明细中→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5.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</a:rPr>
              <a:t> 点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</a:rPr>
              <a:t>保存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</a:rPr>
              <a:t>审核（审核权限参考权限表）。        </a:t>
            </a:r>
            <a:endParaRPr lang="zh-CN" altLang="en-US" sz="1200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7" name="矩形标注 6"/>
          <p:cNvSpPr/>
          <p:nvPr/>
        </p:nvSpPr>
        <p:spPr>
          <a:xfrm>
            <a:off x="271145" y="2489835"/>
            <a:ext cx="1120775" cy="271145"/>
          </a:xfrm>
          <a:prstGeom prst="wedgeRectCallout">
            <a:avLst>
              <a:gd name="adj1" fmla="val -33229"/>
              <a:gd name="adj2" fmla="val 140632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1600" b="1" strike="noStrike" noProof="1">
                <a:solidFill>
                  <a:schemeClr val="tx1"/>
                </a:solidFill>
              </a:rPr>
              <a:t>2.</a:t>
            </a:r>
            <a:r>
              <a:rPr lang="zh-CN" altLang="en-US" sz="1200" strike="noStrike" noProof="1">
                <a:solidFill>
                  <a:schemeClr val="tx1"/>
                </a:solidFill>
              </a:rPr>
              <a:t>点物料汇总</a:t>
            </a:r>
            <a:endParaRPr lang="zh-CN" altLang="zh-CN" sz="1200" strike="noStrike" noProof="1">
              <a:solidFill>
                <a:schemeClr val="tx1"/>
              </a:solidFill>
            </a:endParaRPr>
          </a:p>
        </p:txBody>
      </p:sp>
      <p:sp>
        <p:nvSpPr>
          <p:cNvPr id="3" name="矩形标注 2"/>
          <p:cNvSpPr/>
          <p:nvPr/>
        </p:nvSpPr>
        <p:spPr>
          <a:xfrm>
            <a:off x="2072640" y="6523355"/>
            <a:ext cx="1600835" cy="262890"/>
          </a:xfrm>
          <a:prstGeom prst="wedgeRectCallout">
            <a:avLst>
              <a:gd name="adj1" fmla="val -110214"/>
              <a:gd name="adj2" fmla="val 18840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1600" b="1" strike="noStrike" noProof="1">
                <a:solidFill>
                  <a:schemeClr val="tx1"/>
                </a:solidFill>
              </a:rPr>
              <a:t>1.</a:t>
            </a:r>
            <a:r>
              <a:rPr lang="zh-CN" altLang="en-US" sz="1200" strike="noStrike" noProof="1">
                <a:solidFill>
                  <a:schemeClr val="tx1"/>
                </a:solidFill>
              </a:rPr>
              <a:t>点申请汇总页版</a:t>
            </a:r>
            <a:endParaRPr lang="zh-CN" altLang="en-US" sz="1200" strike="noStrike" noProof="1">
              <a:solidFill>
                <a:schemeClr val="tx1"/>
              </a:solidFill>
            </a:endParaRPr>
          </a:p>
        </p:txBody>
      </p:sp>
      <p:sp>
        <p:nvSpPr>
          <p:cNvPr id="10" name="矩形标注 9"/>
          <p:cNvSpPr/>
          <p:nvPr/>
        </p:nvSpPr>
        <p:spPr>
          <a:xfrm>
            <a:off x="2625090" y="3817620"/>
            <a:ext cx="3221355" cy="566420"/>
          </a:xfrm>
          <a:prstGeom prst="wedgeRectCallout">
            <a:avLst>
              <a:gd name="adj1" fmla="val -22383"/>
              <a:gd name="adj2" fmla="val -104147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1600" b="1" strike="noStrike" noProof="1">
                <a:solidFill>
                  <a:schemeClr val="tx1"/>
                </a:solidFill>
              </a:rPr>
              <a:t>3.</a:t>
            </a:r>
            <a:r>
              <a:rPr lang="zh-CN" altLang="en-US" sz="1200" dirty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在子表内输入相关信息（如：不订购、供应商、首次批准数量、批准采购单价、交货日期等）</a:t>
            </a:r>
            <a:endParaRPr lang="zh-CN" altLang="en-US" sz="1200" strike="noStrike" noProof="1" dirty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92785" y="6584950"/>
            <a:ext cx="416560" cy="201295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标注 5"/>
          <p:cNvSpPr/>
          <p:nvPr/>
        </p:nvSpPr>
        <p:spPr>
          <a:xfrm>
            <a:off x="1971675" y="2852420"/>
            <a:ext cx="1174750" cy="306705"/>
          </a:xfrm>
          <a:prstGeom prst="wedgeRectCallout">
            <a:avLst>
              <a:gd name="adj1" fmla="val -112540"/>
              <a:gd name="adj2" fmla="val 22256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1600" b="1" strike="noStrike" noProof="1">
                <a:solidFill>
                  <a:schemeClr val="tx1"/>
                </a:solidFill>
              </a:rPr>
              <a:t>4.</a:t>
            </a:r>
            <a:r>
              <a:rPr lang="zh-CN" altLang="en-US" sz="1200" strike="noStrike" noProof="1">
                <a:solidFill>
                  <a:schemeClr val="tx1"/>
                </a:solidFill>
              </a:rPr>
              <a:t>点</a:t>
            </a:r>
            <a:r>
              <a:rPr lang="zh-CN" altLang="en-US" sz="1200" dirty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物料分配</a:t>
            </a:r>
            <a:endParaRPr lang="zh-CN" altLang="en-US" sz="1200" strike="noStrike" noProof="1" dirty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82575" y="3345815"/>
            <a:ext cx="8579485" cy="140335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20"/>
          <p:cNvSpPr txBox="1"/>
          <p:nvPr/>
        </p:nvSpPr>
        <p:spPr>
          <a:xfrm>
            <a:off x="175895" y="4624070"/>
            <a:ext cx="8806815" cy="181483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square" anchor="t">
            <a:spAutoFit/>
          </a:bodyPr>
          <a:p>
            <a:pPr algn="l"/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小窍门：</a:t>
            </a:r>
            <a:endParaRPr lang="zh-CN" altLang="en-US" sz="1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、如果物料不用订购，勾选不订购。</a:t>
            </a:r>
            <a:endParaRPr lang="zh-CN" altLang="en-US" sz="1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供应商、供方货号、供应商单价：默认带出【物料供应商资料】中设置的主供应商信息（供方货号，采购单价），可进行手工修改。</a:t>
            </a:r>
            <a:endParaRPr lang="zh-CN" altLang="en-US" sz="1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、申请数量：是申请明细页版相同物料的</a:t>
            </a: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数量</a:t>
            </a: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汇总，不可修改。</a:t>
            </a:r>
            <a:endParaRPr lang="zh-CN" altLang="en-US" sz="1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、首次批准数量：默认情况下，同</a:t>
            </a: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申请数量，可进行手工修改。</a:t>
            </a:r>
            <a:endParaRPr lang="en-US" altLang="zh-CN" sz="1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、现有库存、可用库存：来源于【销售订货单】</a:t>
            </a:r>
            <a:r>
              <a: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【物料明细】页版内的数据。双击可查看现有库存与可用库存。</a:t>
            </a:r>
            <a:endParaRPr lang="zh-CN" altLang="en-US" sz="1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rPr>
              <a:t>6</a:t>
            </a: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、批准采购单价：当系统参数设置采购订货单单价来源于批准单价时，此处输入的单价会自动带入到采购订货单中。当采购订货单中单价超过批准采购单</a:t>
            </a:r>
            <a:endParaRPr lang="zh-CN" altLang="en-US" sz="1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   价时，系统会提示需要特权密码审核后才允许通过。</a:t>
            </a:r>
            <a:endParaRPr lang="zh-CN" altLang="en-US" sz="1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rPr>
              <a:t>7</a:t>
            </a: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、参考进价、参考金额：为了做订单物料金额预算。数据来源于物料资料的参考进价，参考金额会自动计算。如物料资料参考进价有修改，可点刷新</a:t>
            </a:r>
            <a:r>
              <a:rPr lang="zh-CN" altLang="en-US" sz="10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→刷</a:t>
            </a:r>
            <a:endParaRPr lang="zh-CN" altLang="en-US" sz="1000" dirty="0"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  <a:p>
            <a:pPr algn="l"/>
            <a:r>
              <a:rPr lang="zh-CN" altLang="en-US" sz="10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      新参考进价，系统会根据刷新后的参考进价重新计算参考金额。</a:t>
            </a:r>
            <a:endParaRPr lang="zh-CN" altLang="en-US" sz="1000" dirty="0"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  <a:p>
            <a:pPr algn="l"/>
            <a:r>
              <a:rPr lang="en-US" altLang="zh-CN" sz="10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8</a:t>
            </a:r>
            <a:r>
              <a:rPr lang="zh-CN" altLang="en-US" sz="10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、采购申请单内可按实际需要进行物料分批审核。（如：先确定的部分材料，可以先审核进行购买）</a:t>
            </a:r>
            <a:endParaRPr lang="zh-CN" altLang="en-US" sz="1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572000" y="2254885"/>
            <a:ext cx="722630" cy="234950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标注 11"/>
          <p:cNvSpPr/>
          <p:nvPr/>
        </p:nvSpPr>
        <p:spPr>
          <a:xfrm>
            <a:off x="5044440" y="1816735"/>
            <a:ext cx="1210945" cy="306705"/>
          </a:xfrm>
          <a:prstGeom prst="wedgeRectCallout">
            <a:avLst>
              <a:gd name="adj1" fmla="val -53775"/>
              <a:gd name="adj2" fmla="val 96169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1600" b="1" strike="noStrike" noProof="1">
                <a:solidFill>
                  <a:schemeClr val="tx1"/>
                </a:solidFill>
              </a:rPr>
              <a:t>5.</a:t>
            </a:r>
            <a:r>
              <a:rPr lang="zh-CN" altLang="en-US" sz="1200" strike="noStrike" noProof="1">
                <a:solidFill>
                  <a:schemeClr val="tx1"/>
                </a:solidFill>
              </a:rPr>
              <a:t>点保存审核</a:t>
            </a:r>
            <a:endParaRPr lang="zh-CN" altLang="en-US" sz="1200" strike="noStrike" noProof="1" dirty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 animBg="1"/>
      <p:bldP spid="7" grpId="0" animBg="1"/>
      <p:bldP spid="30" grpId="0" animBg="1"/>
      <p:bldP spid="10" grpId="0" animBg="1"/>
      <p:bldP spid="8" grpId="0" animBg="1"/>
      <p:bldP spid="6" grpId="0" animBg="1"/>
      <p:bldP spid="20" grpId="0" animBg="1"/>
      <p:bldP spid="11" grpId="0" bldLvl="0" animBg="1"/>
      <p:bldP spid="12" grpId="0" bldLvl="0" animBg="1"/>
      <p:bldP spid="9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" name="TextBox 22"/>
          <p:cNvSpPr txBox="1"/>
          <p:nvPr/>
        </p:nvSpPr>
        <p:spPr>
          <a:xfrm>
            <a:off x="2330450" y="74613"/>
            <a:ext cx="4943475" cy="520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ctr" defTabSz="9144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2800" b="1" kern="1200" cap="none" spc="0" normalizeH="0" baseline="0" noProof="0" dirty="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  <a:cs typeface="+mn-cs"/>
                <a:sym typeface="+mn-ea"/>
              </a:rPr>
              <a:t>采购管理</a:t>
            </a:r>
            <a:r>
              <a:rPr kumimoji="0" lang="en-US" altLang="zh-CN" sz="2800" b="1" kern="1200" cap="none" spc="0" normalizeH="0" baseline="0" noProof="0" dirty="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  <a:cs typeface="+mn-cs"/>
                <a:sym typeface="+mn-ea"/>
              </a:rPr>
              <a:t>-</a:t>
            </a:r>
            <a:r>
              <a:rPr kumimoji="0" lang="zh-CN" altLang="en-US" sz="2800" b="1" kern="1200" cap="none" spc="0" normalizeH="0" baseline="0" noProof="0" dirty="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  <a:cs typeface="+mn-cs"/>
                <a:sym typeface="+mn-ea"/>
              </a:rPr>
              <a:t>采购申请单</a:t>
            </a:r>
            <a:endParaRPr kumimoji="0" lang="zh-CN" altLang="en-US" sz="2800" b="1" kern="1200" cap="none" spc="0" normalizeH="0" baseline="0" noProof="0" dirty="0">
              <a:solidFill>
                <a:schemeClr val="accent6">
                  <a:lumMod val="75000"/>
                </a:schemeClr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0" y="704850"/>
            <a:ext cx="9144000" cy="4127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8435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" y="-1587"/>
            <a:ext cx="1898650" cy="6731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8436" name="文本框 2"/>
          <p:cNvSpPr txBox="1"/>
          <p:nvPr/>
        </p:nvSpPr>
        <p:spPr>
          <a:xfrm>
            <a:off x="0" y="835025"/>
            <a:ext cx="913447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采购申请单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申请汇总页版字段解释：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437" name="文本框 2"/>
          <p:cNvSpPr txBox="1"/>
          <p:nvPr/>
        </p:nvSpPr>
        <p:spPr>
          <a:xfrm>
            <a:off x="45720" y="1308735"/>
            <a:ext cx="9008745" cy="28689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lnSpc>
                <a:spcPct val="130000"/>
              </a:lnSpc>
            </a:pPr>
            <a:r>
              <a:rPr lang="en-US" altLang="zh-CN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不订购</a:t>
            </a:r>
            <a:r>
              <a:rPr lang="en-US" altLang="zh-CN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确定物料是否要订购，如该材料使用批量订购的方式或库存数量可以满足订单需求，则勾上。在物料           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          分类中设置。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审核</a:t>
            </a:r>
            <a:r>
              <a:rPr lang="en-US" altLang="zh-CN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物料审核后，方可进行下一流程（审核后可以进行采购订货单的操作）。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                                                  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{物料分类、物料编号、物料名称、规格、颜色、</a:t>
            </a:r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起订量</a:t>
            </a:r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}：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记录关联的物料信息，在物料资料中增加好后可自动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           带出。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{申请数量}：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指来源于销售订货单物料明细的需求用量或净需求用量（净需求可在参数设置中设定。）  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{首次批准数量}：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记录首次批准的物料（只要是审核后，变更后在刷新此列不会有任何变化。）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{供应商单价}：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在物料资料中有填写供应商单价并在参数设置中设置启用之后，系统会自动带出供应商单价。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{批准采购单价、批准金额}：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作为采购订货单的采购单价标准，如果超过批准采购单价需进行特权审核。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{可用库存、现有库存}：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系统自动带出物料的库存信息，双击可用库存可进入可用库存明细页面。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{交货日期}：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要求采购材料交货日期。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{审核人、审核日期}：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记录审核物料信息的审核人、审核日期。</a:t>
            </a:r>
            <a:endParaRPr lang="en-US" altLang="zh-CN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60" y="1631315"/>
            <a:ext cx="8991600" cy="514159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3660" y="149860"/>
            <a:ext cx="90487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noProof="0" dirty="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  <a:sym typeface="+mn-ea"/>
              </a:rPr>
              <a:t>采购管理</a:t>
            </a:r>
            <a:r>
              <a:rPr lang="en-US" altLang="zh-CN" sz="2800" b="1" dirty="0" smtClean="0">
                <a:solidFill>
                  <a:schemeClr val="accent6">
                    <a:lumMod val="75000"/>
                  </a:schemeClr>
                </a:solidFill>
                <a:sym typeface="+mn-ea"/>
              </a:rPr>
              <a:t>-</a:t>
            </a:r>
            <a:r>
              <a:rPr lang="zh-CN" altLang="en-US" sz="2800" b="1" dirty="0" smtClean="0">
                <a:solidFill>
                  <a:schemeClr val="accent6">
                    <a:lumMod val="75000"/>
                  </a:schemeClr>
                </a:solidFill>
                <a:sym typeface="+mn-ea"/>
              </a:rPr>
              <a:t>采购申请单</a:t>
            </a:r>
            <a:endParaRPr lang="zh-CN" altLang="en-US" sz="2800" b="1" dirty="0" smtClean="0">
              <a:solidFill>
                <a:schemeClr val="accent6">
                  <a:lumMod val="75000"/>
                </a:schemeClr>
              </a:solidFill>
              <a:sym typeface="+mn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0" y="705396"/>
            <a:ext cx="9144000" cy="4009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2" y="-1984"/>
            <a:ext cx="1897752" cy="6739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100" name="文本框 1"/>
          <p:cNvSpPr txBox="1"/>
          <p:nvPr/>
        </p:nvSpPr>
        <p:spPr>
          <a:xfrm>
            <a:off x="-3810" y="746125"/>
            <a:ext cx="912495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eaLnBrk="0" hangingPunct="0">
              <a:buFont typeface="Arial" panose="020B0604020202020204" pitchFamily="34" charset="0"/>
              <a:buNone/>
            </a:pPr>
            <a:r>
              <a:rPr lang="zh-CN" altLang="en-US" sz="2400" b="1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采购明细页版</a:t>
            </a:r>
            <a:r>
              <a:rPr lang="zh-CN" altLang="en-US" sz="2400" b="1" dirty="0">
                <a:latin typeface="Calibri" panose="020F0502020204030204" charset="0"/>
                <a:ea typeface="宋体" panose="02010600030101010101" pitchFamily="2" charset="-122"/>
              </a:rPr>
              <a:t>用途：</a:t>
            </a:r>
            <a:r>
              <a:rPr lang="zh-CN" altLang="en-US" sz="1400" dirty="0">
                <a:latin typeface="Calibri" panose="020F0502020204030204" charset="0"/>
                <a:ea typeface="宋体" panose="02010600030101010101" pitchFamily="2" charset="-122"/>
              </a:rPr>
              <a:t>快速查看采购申请单物料的采购进度。</a:t>
            </a:r>
            <a:endParaRPr lang="zh-CN" altLang="en-US" sz="1400" dirty="0"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4101" name="文本框 1"/>
          <p:cNvSpPr txBox="1"/>
          <p:nvPr/>
        </p:nvSpPr>
        <p:spPr>
          <a:xfrm>
            <a:off x="10160" y="1112520"/>
            <a:ext cx="8917940" cy="33718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eaLnBrk="0" hangingPunct="0">
              <a:buFont typeface="Arial" panose="020B0604020202020204" pitchFamily="34" charset="0"/>
              <a:buNone/>
            </a:pPr>
            <a:r>
              <a:rPr lang="zh-CN" altLang="en-US" sz="1600" b="1" dirty="0">
                <a:latin typeface="Calibri" panose="020F0502020204030204" charset="0"/>
                <a:ea typeface="宋体" panose="02010600030101010101" pitchFamily="2" charset="-122"/>
              </a:rPr>
              <a:t>操作方法如下：</a:t>
            </a:r>
            <a:endParaRPr lang="zh-CN" altLang="en-US" sz="1600" b="1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4102" name="文本框 1"/>
          <p:cNvSpPr txBox="1"/>
          <p:nvPr/>
        </p:nvSpPr>
        <p:spPr>
          <a:xfrm>
            <a:off x="-3175" y="1356360"/>
            <a:ext cx="9124315" cy="27559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eaLnBrk="0" hangingPunc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</a:rPr>
              <a:t>第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</a:rPr>
              <a:t>1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</a:rPr>
              <a:t>步：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</a:rPr>
              <a:t>1.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</a:rPr>
              <a:t>点采购明细页版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</a:rPr>
              <a:t> 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</a:rPr>
              <a:t>。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</a:rPr>
              <a:t>      </a:t>
            </a:r>
            <a:endParaRPr lang="zh-CN" altLang="en-US" sz="1200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5" name="文本框 20"/>
          <p:cNvSpPr txBox="1"/>
          <p:nvPr/>
        </p:nvSpPr>
        <p:spPr>
          <a:xfrm>
            <a:off x="167640" y="5576570"/>
            <a:ext cx="8806815" cy="81470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square" anchor="t">
            <a:spAutoFit/>
          </a:bodyPr>
          <a:p>
            <a:pPr algn="l"/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小窍门：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、在此页版显示的数据说明已经开过采购订货单。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、可以快速查看这张采购申请单的物料是在哪家供应商买的、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交货日期、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是否入仓、退货、结单。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、双击采购单号系统会自动跳转到对应的采购订货单中，方便查看明细。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矩形标注 12"/>
          <p:cNvSpPr/>
          <p:nvPr/>
        </p:nvSpPr>
        <p:spPr>
          <a:xfrm>
            <a:off x="2437130" y="6523355"/>
            <a:ext cx="1493520" cy="262890"/>
          </a:xfrm>
          <a:prstGeom prst="wedgeRectCallout">
            <a:avLst>
              <a:gd name="adj1" fmla="val -110214"/>
              <a:gd name="adj2" fmla="val 18840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1600" b="1" strike="noStrike" noProof="1">
                <a:solidFill>
                  <a:schemeClr val="tx1"/>
                </a:solidFill>
              </a:rPr>
              <a:t>1.</a:t>
            </a:r>
            <a:r>
              <a:rPr lang="zh-CN" altLang="en-US" sz="1200" strike="noStrike" noProof="1">
                <a:solidFill>
                  <a:schemeClr val="tx1"/>
                </a:solidFill>
              </a:rPr>
              <a:t>点采购明细页版</a:t>
            </a:r>
            <a:endParaRPr lang="zh-CN" altLang="en-US" sz="1200" strike="noStrike" noProof="1">
              <a:solidFill>
                <a:schemeClr val="tx1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057275" y="6584950"/>
            <a:ext cx="416560" cy="201295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3" grpId="0" animBg="1"/>
      <p:bldP spid="1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" y="1570355"/>
            <a:ext cx="9069070" cy="52120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3660" y="149860"/>
            <a:ext cx="90487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noProof="0" dirty="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  <a:sym typeface="+mn-ea"/>
              </a:rPr>
              <a:t>采购管理</a:t>
            </a:r>
            <a:r>
              <a:rPr lang="en-US" altLang="zh-CN" sz="2800" b="1" dirty="0" smtClean="0">
                <a:solidFill>
                  <a:schemeClr val="accent6">
                    <a:lumMod val="75000"/>
                  </a:schemeClr>
                </a:solidFill>
                <a:sym typeface="+mn-ea"/>
              </a:rPr>
              <a:t>-</a:t>
            </a:r>
            <a:r>
              <a:rPr lang="zh-CN" altLang="en-US" sz="2800" b="1" dirty="0" smtClean="0">
                <a:solidFill>
                  <a:schemeClr val="accent6">
                    <a:lumMod val="75000"/>
                  </a:schemeClr>
                </a:solidFill>
                <a:sym typeface="+mn-ea"/>
              </a:rPr>
              <a:t>采购申请单</a:t>
            </a:r>
            <a:endParaRPr lang="zh-CN" altLang="en-US" sz="2800" b="1" dirty="0" smtClean="0">
              <a:solidFill>
                <a:schemeClr val="accent6">
                  <a:lumMod val="75000"/>
                </a:schemeClr>
              </a:solidFill>
              <a:sym typeface="+mn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0" y="705396"/>
            <a:ext cx="9144000" cy="4009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2" y="-1984"/>
            <a:ext cx="1897752" cy="6739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100" name="文本框 1"/>
          <p:cNvSpPr txBox="1"/>
          <p:nvPr/>
        </p:nvSpPr>
        <p:spPr>
          <a:xfrm>
            <a:off x="-3810" y="746125"/>
            <a:ext cx="912495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eaLnBrk="0" hangingPunct="0">
              <a:buFont typeface="Arial" panose="020B0604020202020204" pitchFamily="34" charset="0"/>
              <a:buNone/>
            </a:pPr>
            <a:r>
              <a:rPr lang="zh-CN" altLang="en-US" sz="2400" b="1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变更明细页版</a:t>
            </a:r>
            <a:r>
              <a:rPr lang="zh-CN" altLang="en-US" sz="2400" b="1" dirty="0">
                <a:latin typeface="Calibri" panose="020F0502020204030204" charset="0"/>
                <a:ea typeface="宋体" panose="02010600030101010101" pitchFamily="2" charset="-122"/>
              </a:rPr>
              <a:t>用途：</a:t>
            </a:r>
            <a:r>
              <a:rPr lang="zh-CN" altLang="en-US" sz="1400" dirty="0">
                <a:latin typeface="Calibri" panose="020F0502020204030204" charset="0"/>
                <a:ea typeface="宋体" panose="02010600030101010101" pitchFamily="2" charset="-122"/>
              </a:rPr>
              <a:t>记录发生变更的详细信息。</a:t>
            </a:r>
            <a:endParaRPr lang="zh-CN" altLang="en-US" sz="1400" dirty="0"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4101" name="文本框 1"/>
          <p:cNvSpPr txBox="1"/>
          <p:nvPr/>
        </p:nvSpPr>
        <p:spPr>
          <a:xfrm>
            <a:off x="10160" y="1112520"/>
            <a:ext cx="8917940" cy="33718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eaLnBrk="0" hangingPunct="0">
              <a:buFont typeface="Arial" panose="020B0604020202020204" pitchFamily="34" charset="0"/>
              <a:buNone/>
            </a:pPr>
            <a:r>
              <a:rPr lang="zh-CN" altLang="en-US" sz="1600" b="1" dirty="0">
                <a:latin typeface="Calibri" panose="020F0502020204030204" charset="0"/>
                <a:ea typeface="宋体" panose="02010600030101010101" pitchFamily="2" charset="-122"/>
              </a:rPr>
              <a:t>操作方法如下：</a:t>
            </a:r>
            <a:endParaRPr lang="zh-CN" altLang="en-US" sz="1600" b="1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4102" name="文本框 1"/>
          <p:cNvSpPr txBox="1"/>
          <p:nvPr/>
        </p:nvSpPr>
        <p:spPr>
          <a:xfrm>
            <a:off x="-3175" y="1356360"/>
            <a:ext cx="9124315" cy="27559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eaLnBrk="0" hangingPunc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</a:rPr>
              <a:t>第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</a:rPr>
              <a:t>1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</a:rPr>
              <a:t>步：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</a:rPr>
              <a:t>1.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</a:rPr>
              <a:t>点变更明细页版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</a:rPr>
              <a:t> 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</a:rPr>
              <a:t>。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</a:rPr>
              <a:t>      </a:t>
            </a:r>
            <a:endParaRPr lang="zh-CN" altLang="en-US" sz="1200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5" name="文本框 20"/>
          <p:cNvSpPr txBox="1"/>
          <p:nvPr/>
        </p:nvSpPr>
        <p:spPr>
          <a:xfrm>
            <a:off x="314325" y="5990590"/>
            <a:ext cx="8806815" cy="47561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square" anchor="t">
            <a:spAutoFit/>
          </a:bodyPr>
          <a:p>
            <a:pPr algn="l"/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小窍门：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、蓝色字体为增加或减少用量，红色字体表示为删除物料，绿色字体为新增物料。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矩形标注 12"/>
          <p:cNvSpPr/>
          <p:nvPr/>
        </p:nvSpPr>
        <p:spPr>
          <a:xfrm>
            <a:off x="2819400" y="6523355"/>
            <a:ext cx="1493520" cy="262890"/>
          </a:xfrm>
          <a:prstGeom prst="wedgeRectCallout">
            <a:avLst>
              <a:gd name="adj1" fmla="val -110214"/>
              <a:gd name="adj2" fmla="val 18840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1600" b="1" strike="noStrike" noProof="1">
                <a:solidFill>
                  <a:schemeClr val="tx1"/>
                </a:solidFill>
              </a:rPr>
              <a:t>1.</a:t>
            </a:r>
            <a:r>
              <a:rPr lang="zh-CN" altLang="en-US" sz="1200" strike="noStrike" noProof="1">
                <a:solidFill>
                  <a:schemeClr val="tx1"/>
                </a:solidFill>
              </a:rPr>
              <a:t>点变更明细页版</a:t>
            </a:r>
            <a:endParaRPr lang="zh-CN" altLang="en-US" sz="1200" strike="noStrike" noProof="1">
              <a:solidFill>
                <a:schemeClr val="tx1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439545" y="6584950"/>
            <a:ext cx="416560" cy="201295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ldLvl="0" animBg="1"/>
      <p:bldP spid="13" grpId="0" bldLvl="0" animBg="1"/>
      <p:bldP spid="15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" y="1974850"/>
            <a:ext cx="8905240" cy="466661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3660" y="149860"/>
            <a:ext cx="90487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noProof="0" dirty="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  <a:sym typeface="+mn-ea"/>
              </a:rPr>
              <a:t>采购管理</a:t>
            </a:r>
            <a:r>
              <a:rPr lang="en-US" altLang="zh-CN" sz="2800" b="1" dirty="0" smtClean="0">
                <a:solidFill>
                  <a:schemeClr val="accent6">
                    <a:lumMod val="75000"/>
                  </a:schemeClr>
                </a:solidFill>
                <a:sym typeface="+mn-ea"/>
              </a:rPr>
              <a:t>-</a:t>
            </a:r>
            <a:r>
              <a:rPr lang="zh-CN" altLang="en-US" sz="2800" b="1" dirty="0" smtClean="0">
                <a:solidFill>
                  <a:schemeClr val="accent6">
                    <a:lumMod val="75000"/>
                  </a:schemeClr>
                </a:solidFill>
                <a:sym typeface="+mn-ea"/>
              </a:rPr>
              <a:t>采购申请单</a:t>
            </a:r>
            <a:endParaRPr lang="zh-CN" altLang="en-US" sz="2800" b="1" dirty="0" smtClean="0">
              <a:solidFill>
                <a:schemeClr val="accent6">
                  <a:lumMod val="75000"/>
                </a:schemeClr>
              </a:solidFill>
              <a:sym typeface="+mn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0" y="705396"/>
            <a:ext cx="9144000" cy="4009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2" y="-1984"/>
            <a:ext cx="1897752" cy="6739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矩形 19"/>
          <p:cNvSpPr/>
          <p:nvPr/>
        </p:nvSpPr>
        <p:spPr>
          <a:xfrm>
            <a:off x="102870" y="2861945"/>
            <a:ext cx="756285" cy="129540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219075" y="3023235"/>
            <a:ext cx="640080" cy="127000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00" name="文本框 1"/>
          <p:cNvSpPr txBox="1"/>
          <p:nvPr/>
        </p:nvSpPr>
        <p:spPr>
          <a:xfrm>
            <a:off x="-3810" y="746125"/>
            <a:ext cx="9124950" cy="67564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eaLnBrk="0" hangingPunct="0">
              <a:buFont typeface="Arial" panose="020B0604020202020204" pitchFamily="34" charset="0"/>
              <a:buNone/>
            </a:pPr>
            <a:r>
              <a:rPr lang="zh-CN" altLang="en-US" sz="2400" b="1" dirty="0">
                <a:latin typeface="Calibri" panose="020F0502020204030204" charset="0"/>
                <a:ea typeface="宋体" panose="02010600030101010101" pitchFamily="2" charset="-122"/>
              </a:rPr>
              <a:t>采购申请单用途：</a:t>
            </a:r>
            <a:r>
              <a:rPr lang="zh-CN" altLang="en-US" sz="14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严格控制订单需要购买的材料（</a:t>
            </a:r>
            <a:r>
              <a:rPr lang="zh-CN" altLang="en-US" sz="1400" dirty="0" smtClean="0">
                <a:sym typeface="+mn-ea"/>
              </a:rPr>
              <a:t>买多少物料、到哪里买、多少资金预算，预算交期</a:t>
            </a:r>
            <a:endParaRPr lang="zh-CN" altLang="en-US" sz="1400" dirty="0" smtClean="0">
              <a:sym typeface="+mn-ea"/>
            </a:endParaRPr>
          </a:p>
          <a:p>
            <a:pPr eaLnBrk="0" hangingPunct="0">
              <a:buFont typeface="Arial" panose="020B0604020202020204" pitchFamily="34" charset="0"/>
              <a:buNone/>
            </a:pPr>
            <a:r>
              <a:rPr lang="zh-CN" altLang="en-US" sz="1400" dirty="0" smtClean="0">
                <a:sym typeface="+mn-ea"/>
              </a:rPr>
              <a:t> ）。通俗：批数量、批供应商、 批单价、批交期。</a:t>
            </a:r>
            <a:r>
              <a:rPr lang="zh-CN" altLang="en-US" sz="1400" dirty="0">
                <a:sym typeface="+mn-ea"/>
              </a:rPr>
              <a:t>。</a:t>
            </a:r>
            <a:endParaRPr lang="zh-CN" altLang="en-US" sz="1400" dirty="0"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4101" name="文本框 1"/>
          <p:cNvSpPr txBox="1"/>
          <p:nvPr/>
        </p:nvSpPr>
        <p:spPr>
          <a:xfrm>
            <a:off x="12065" y="1353185"/>
            <a:ext cx="8917940" cy="33718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eaLnBrk="0" hangingPunct="0">
              <a:buFont typeface="Arial" panose="020B0604020202020204" pitchFamily="34" charset="0"/>
              <a:buNone/>
            </a:pPr>
            <a:r>
              <a:rPr lang="zh-CN" altLang="en-US" sz="1600" b="1" dirty="0">
                <a:latin typeface="Calibri" panose="020F0502020204030204" charset="0"/>
                <a:ea typeface="宋体" panose="02010600030101010101" pitchFamily="2" charset="-122"/>
              </a:rPr>
              <a:t>方法</a:t>
            </a:r>
            <a:r>
              <a:rPr lang="en-US" altLang="zh-CN" sz="1600" b="1" dirty="0">
                <a:latin typeface="Calibri" panose="020F0502020204030204" charset="0"/>
                <a:ea typeface="宋体" panose="02010600030101010101" pitchFamily="2" charset="-122"/>
              </a:rPr>
              <a:t>2</a:t>
            </a:r>
            <a:r>
              <a:rPr lang="zh-CN" altLang="en-US" sz="1600" b="1" dirty="0">
                <a:latin typeface="Calibri" panose="020F0502020204030204" charset="0"/>
                <a:ea typeface="宋体" panose="02010600030101010101" pitchFamily="2" charset="-122"/>
              </a:rPr>
              <a:t>（无来源单据：手工输入）操作方法如下：</a:t>
            </a:r>
            <a:endParaRPr lang="zh-CN" altLang="en-US" sz="1600" b="1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4102" name="文本框 1"/>
          <p:cNvSpPr txBox="1"/>
          <p:nvPr/>
        </p:nvSpPr>
        <p:spPr>
          <a:xfrm>
            <a:off x="-2540" y="1690370"/>
            <a:ext cx="9124315" cy="27559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eaLnBrk="0" hangingPunc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</a:rPr>
              <a:t>第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</a:rPr>
              <a:t>1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</a:rPr>
              <a:t>步：通过主菜单→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</a:rPr>
              <a:t>1.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</a:rPr>
              <a:t>点【 采购管理】→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</a:rPr>
              <a:t>2.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</a:rPr>
              <a:t>【采购申请单】。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</a:rPr>
              <a:t>                    </a:t>
            </a:r>
            <a:endParaRPr lang="zh-CN" altLang="en-US" sz="1200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7" name="矩形标注 6"/>
          <p:cNvSpPr/>
          <p:nvPr/>
        </p:nvSpPr>
        <p:spPr>
          <a:xfrm>
            <a:off x="1586865" y="3150870"/>
            <a:ext cx="1352550" cy="360680"/>
          </a:xfrm>
          <a:prstGeom prst="wedgeRectCallout">
            <a:avLst>
              <a:gd name="adj1" fmla="val -102629"/>
              <a:gd name="adj2" fmla="val -73767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1600" b="1" strike="noStrike" noProof="1">
                <a:solidFill>
                  <a:schemeClr val="tx1"/>
                </a:solidFill>
              </a:rPr>
              <a:t>2.</a:t>
            </a:r>
            <a:r>
              <a:rPr lang="zh-CN" altLang="en-US" sz="1200" strike="noStrike" noProof="1">
                <a:solidFill>
                  <a:schemeClr val="tx1"/>
                </a:solidFill>
              </a:rPr>
              <a:t>点采购申请单</a:t>
            </a:r>
            <a:endParaRPr lang="zh-CN" altLang="zh-CN" sz="1200" strike="noStrike" noProof="1">
              <a:solidFill>
                <a:schemeClr val="tx1"/>
              </a:solidFill>
            </a:endParaRPr>
          </a:p>
        </p:txBody>
      </p:sp>
      <p:sp>
        <p:nvSpPr>
          <p:cNvPr id="3" name="矩形标注 2"/>
          <p:cNvSpPr/>
          <p:nvPr/>
        </p:nvSpPr>
        <p:spPr>
          <a:xfrm>
            <a:off x="1659890" y="2399665"/>
            <a:ext cx="1144905" cy="335280"/>
          </a:xfrm>
          <a:prstGeom prst="wedgeRectCallout">
            <a:avLst>
              <a:gd name="adj1" fmla="val -120493"/>
              <a:gd name="adj2" fmla="val 108143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1600" b="1" strike="noStrike" noProof="1">
                <a:solidFill>
                  <a:schemeClr val="tx1"/>
                </a:solidFill>
              </a:rPr>
              <a:t>1.</a:t>
            </a:r>
            <a:r>
              <a:rPr lang="zh-CN" altLang="en-US" sz="1200" strike="noStrike" noProof="1">
                <a:solidFill>
                  <a:schemeClr val="tx1"/>
                </a:solidFill>
              </a:rPr>
              <a:t>点采购管理</a:t>
            </a:r>
            <a:endParaRPr lang="zh-CN" altLang="en-US" sz="1200" strike="noStrike" noProof="1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ldLvl="0" animBg="1"/>
      <p:bldP spid="3" grpId="0" bldLvl="0" animBg="1"/>
      <p:bldP spid="30" grpId="0" bldLvl="0" animBg="1"/>
      <p:bldP spid="7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/>
          <p:cNvSpPr txBox="1"/>
          <p:nvPr/>
        </p:nvSpPr>
        <p:spPr>
          <a:xfrm>
            <a:off x="2736214" y="141605"/>
            <a:ext cx="49321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采购管理</a:t>
            </a:r>
            <a:r>
              <a:rPr lang="en-US" altLang="zh-CN" sz="2800" b="1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-</a:t>
            </a: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采购申请单</a:t>
            </a:r>
            <a:endParaRPr lang="zh-CN" altLang="en-US" sz="28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0" y="705396"/>
            <a:ext cx="9144000" cy="4009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2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2" y="-1984"/>
            <a:ext cx="1897752" cy="6739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文本框 2"/>
          <p:cNvSpPr txBox="1"/>
          <p:nvPr/>
        </p:nvSpPr>
        <p:spPr>
          <a:xfrm>
            <a:off x="3810" y="734060"/>
            <a:ext cx="9139555" cy="810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第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2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步：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1.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插入行→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2.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在子表内输入相关信息（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物料名称：双击物料名称，在弹出框中找到需要订购的物料。如果没有，需要新增物料。详见物料资料说明。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供应商、申请数量、首次批准数量、批准采购单价、交货日期等）→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3.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点保存→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4.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勾选需要审核的物料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点审核（审核权限参考权限表）。</a:t>
            </a:r>
            <a:endParaRPr lang="en-US" altLang="zh-CN" sz="1200" dirty="0"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25" y="1456690"/>
            <a:ext cx="8905240" cy="532003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85750" y="3001645"/>
            <a:ext cx="8593455" cy="334010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标注 6"/>
          <p:cNvSpPr/>
          <p:nvPr/>
        </p:nvSpPr>
        <p:spPr>
          <a:xfrm>
            <a:off x="5635625" y="1550035"/>
            <a:ext cx="1653540" cy="405130"/>
          </a:xfrm>
          <a:prstGeom prst="wedgeRectCallout">
            <a:avLst>
              <a:gd name="adj1" fmla="val -79723"/>
              <a:gd name="adj2" fmla="val 80250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1600" b="1" strike="noStrike" noProof="1">
                <a:solidFill>
                  <a:schemeClr val="tx1"/>
                </a:solidFill>
              </a:rPr>
              <a:t>4.</a:t>
            </a:r>
            <a:r>
              <a:rPr lang="zh-CN" altLang="en-US" sz="1200" dirty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勾选需要审核的物料点审核</a:t>
            </a:r>
            <a:endParaRPr lang="zh-CN" altLang="en-US" sz="1200" strike="noStrike" noProof="1" dirty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0" name="矩形标注 9"/>
          <p:cNvSpPr/>
          <p:nvPr/>
        </p:nvSpPr>
        <p:spPr>
          <a:xfrm>
            <a:off x="1418590" y="3502660"/>
            <a:ext cx="6732905" cy="306705"/>
          </a:xfrm>
          <a:prstGeom prst="wedgeRectCallout">
            <a:avLst>
              <a:gd name="adj1" fmla="val -32580"/>
              <a:gd name="adj2" fmla="val -91549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1600" b="1" strike="noStrike" noProof="1">
                <a:solidFill>
                  <a:schemeClr val="tx1"/>
                </a:solidFill>
              </a:rPr>
              <a:t>2.</a:t>
            </a:r>
            <a:r>
              <a:rPr lang="zh-CN" altLang="en-US" sz="1200" dirty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在子表内输入相关信息（如：不订购、供应商、首次批准数量、批准采购单价、交货日期等）</a:t>
            </a:r>
            <a:endParaRPr lang="zh-CN" altLang="en-US" sz="1200" strike="noStrike" noProof="1" dirty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1" name="矩形标注 10"/>
          <p:cNvSpPr/>
          <p:nvPr/>
        </p:nvSpPr>
        <p:spPr>
          <a:xfrm>
            <a:off x="4016375" y="1666240"/>
            <a:ext cx="832485" cy="288925"/>
          </a:xfrm>
          <a:prstGeom prst="wedgeRectCallout">
            <a:avLst>
              <a:gd name="adj1" fmla="val 39168"/>
              <a:gd name="adj2" fmla="val 98791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1600" b="1" strike="noStrike" noProof="1">
                <a:solidFill>
                  <a:schemeClr val="tx1"/>
                </a:solidFill>
              </a:rPr>
              <a:t>3.</a:t>
            </a:r>
            <a:r>
              <a:rPr lang="zh-CN" altLang="en-US" sz="1200" dirty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点保存</a:t>
            </a:r>
            <a:endParaRPr lang="en-US" altLang="zh-CN" sz="1200" strike="noStrike" noProof="1" dirty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6445" y="2068195"/>
            <a:ext cx="333375" cy="156845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4943475" y="2068195"/>
            <a:ext cx="395605" cy="157480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20"/>
          <p:cNvSpPr txBox="1"/>
          <p:nvPr/>
        </p:nvSpPr>
        <p:spPr>
          <a:xfrm>
            <a:off x="99060" y="4065905"/>
            <a:ext cx="8905240" cy="250698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square" anchor="t">
            <a:spAutoFit/>
          </a:bodyPr>
          <a:p>
            <a:pPr algn="l"/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小窍门：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en-US" sz="11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★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物料名称：双击物料名称，在弹出框中找到需要订购的物料。如果没有，需要新增物料。详见物料资料说明。</a:t>
            </a:r>
            <a:endParaRPr 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供应商、供方货号、供应商单价：默认带出【物料供应商资料】中设置的主供应商信息（供方货号，采购单价），可进行手工修改。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、双击订单号，可以关联销售订货单。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、申请数量：手工输入需购买的数量。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、首次批准数量：默认等于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申请数量。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6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、现有库存、可用库存：来源于【销售订货单】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【物料明细】页版内的数据。双击可查看现有库存与可用库存。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7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、批准采购单价：当系统参数设置采购订货单单价来源于批准单价时，此处输入的单价会自动带入到采购订货单中。当采购订货单中单价超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   过批准采购单价时，系统会提示需要特权密码审核后才允许通过。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、参考进价、参考金额：为了做订单物料金额预算。数据来源于物料资料的参考进价，参考金额会自动计算。如物料资料参考进价有修改，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   可点刷新</a:t>
            </a:r>
            <a:r>
              <a:rPr lang="zh-CN" altLang="en-US" sz="11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→刷新参考进价，系统会根据刷新后的参考进价重新计算参考金额。</a:t>
            </a:r>
            <a:endParaRPr lang="zh-CN" altLang="en-US" sz="1100" dirty="0"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  <a:p>
            <a:pPr algn="l"/>
            <a:r>
              <a:rPr lang="en-US" altLang="zh-CN" sz="11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9</a:t>
            </a:r>
            <a:r>
              <a:rPr lang="zh-CN" altLang="en-US" sz="11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、采购申请单内可按实际需要进行物料分批审核。（如：先确定的部分材料，可以先审核进行购买）</a:t>
            </a:r>
            <a:endParaRPr lang="zh-CN" altLang="en-US" sz="1100" dirty="0"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  <a:p>
            <a:pPr algn="l"/>
            <a:r>
              <a:rPr lang="en-US" altLang="zh-CN" sz="11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10</a:t>
            </a:r>
            <a:r>
              <a:rPr lang="zh-CN" altLang="en-US" sz="11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、在物料资料中设定采购员后，在此处可以分采购员申请。</a:t>
            </a:r>
            <a:endParaRPr lang="zh-CN" altLang="en-US" sz="1100" dirty="0"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11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、核对：勾选了核对后，字体会变为绿色。表示此条数据经过确认。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825240" y="2068830"/>
            <a:ext cx="404495" cy="155575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标注 3"/>
          <p:cNvSpPr/>
          <p:nvPr/>
        </p:nvSpPr>
        <p:spPr>
          <a:xfrm>
            <a:off x="2736215" y="1607820"/>
            <a:ext cx="957580" cy="288925"/>
          </a:xfrm>
          <a:prstGeom prst="wedgeRectCallout">
            <a:avLst>
              <a:gd name="adj1" fmla="val 63461"/>
              <a:gd name="adj2" fmla="val 123626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1600" b="1" strike="noStrike" noProof="1">
                <a:solidFill>
                  <a:schemeClr val="tx1"/>
                </a:solidFill>
              </a:rPr>
              <a:t>1.</a:t>
            </a:r>
            <a:r>
              <a:rPr lang="zh-CN" altLang="en-US" sz="1200" dirty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点插入行</a:t>
            </a:r>
            <a:endParaRPr lang="en-US" altLang="zh-CN" sz="1200" strike="noStrike" noProof="1" dirty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2" grpId="0" bldLvl="0" animBg="1"/>
      <p:bldP spid="6" grpId="0" bldLvl="0" animBg="1"/>
      <p:bldP spid="10" grpId="0" bldLvl="0" animBg="1"/>
      <p:bldP spid="12" grpId="0" bldLvl="0" animBg="1"/>
      <p:bldP spid="11" grpId="0" bldLvl="0" animBg="1"/>
      <p:bldP spid="13" grpId="0" bldLvl="0" animBg="1"/>
      <p:bldP spid="7" grpId="0" bldLvl="0" animBg="1"/>
      <p:bldP spid="15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095" y="1234440"/>
            <a:ext cx="8905240" cy="5391150"/>
          </a:xfrm>
          <a:prstGeom prst="rect">
            <a:avLst/>
          </a:prstGeom>
        </p:spPr>
      </p:pic>
      <p:pic>
        <p:nvPicPr>
          <p:cNvPr id="3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2" y="-1984"/>
            <a:ext cx="1897752" cy="6739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3" name="TextBox 22"/>
          <p:cNvSpPr txBox="1"/>
          <p:nvPr/>
        </p:nvSpPr>
        <p:spPr>
          <a:xfrm>
            <a:off x="2736214" y="141605"/>
            <a:ext cx="49321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zh-CN" sz="2800" b="1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采购管理</a:t>
            </a:r>
            <a:r>
              <a:rPr lang="en-US" altLang="zh-CN" sz="2800" b="1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-</a:t>
            </a: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采购申请单</a:t>
            </a:r>
            <a:endParaRPr lang="zh-CN" altLang="en-US" sz="28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0" y="705396"/>
            <a:ext cx="9144000" cy="4009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99695" y="772160"/>
            <a:ext cx="89014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采购申请单打印报表操作：</a:t>
            </a:r>
            <a:endParaRPr lang="zh-CN" altLang="en-US" sz="1200" dirty="0"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  <a:p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第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1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步：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1.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点报表→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2.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选中所需打印的表格→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3.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点打开或保存→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5.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点确定（系统自动将数据写入到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EXCEL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中打印）。</a:t>
            </a:r>
            <a:endParaRPr lang="zh-CN" altLang="en-US" sz="1200" dirty="0"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6" name="TextBox 3"/>
          <p:cNvSpPr txBox="1"/>
          <p:nvPr/>
        </p:nvSpPr>
        <p:spPr>
          <a:xfrm>
            <a:off x="8584731" y="6678766"/>
            <a:ext cx="594995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000" b="1" dirty="0" smtClean="0"/>
              <a:t>第 </a:t>
            </a:r>
            <a:r>
              <a:rPr lang="en-US" altLang="zh-CN" sz="1000" b="1" dirty="0" smtClean="0"/>
              <a:t>11</a:t>
            </a:r>
            <a:r>
              <a:rPr lang="zh-CN" altLang="en-US" sz="1000" b="1" dirty="0" smtClean="0"/>
              <a:t>页</a:t>
            </a:r>
            <a:endParaRPr lang="zh-CN" altLang="en-US" sz="1000" b="1" dirty="0" smtClean="0"/>
          </a:p>
        </p:txBody>
      </p:sp>
      <p:sp>
        <p:nvSpPr>
          <p:cNvPr id="13" name="矩形标注 12"/>
          <p:cNvSpPr/>
          <p:nvPr/>
        </p:nvSpPr>
        <p:spPr>
          <a:xfrm>
            <a:off x="1375410" y="1490345"/>
            <a:ext cx="822325" cy="247015"/>
          </a:xfrm>
          <a:prstGeom prst="wedgeRectCallout">
            <a:avLst>
              <a:gd name="adj1" fmla="val -85366"/>
              <a:gd name="adj2" fmla="val 103984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1600" b="1" strike="noStrike" noProof="1">
                <a:solidFill>
                  <a:schemeClr val="tx1"/>
                </a:solidFill>
              </a:rPr>
              <a:t>1.</a:t>
            </a:r>
            <a:r>
              <a:rPr lang="zh-CN" altLang="en-US" sz="1200" strike="noStrike" noProof="1">
                <a:solidFill>
                  <a:schemeClr val="tx1"/>
                </a:solidFill>
              </a:rPr>
              <a:t>点报表</a:t>
            </a:r>
            <a:endParaRPr lang="en-US" altLang="zh-CN" sz="1200" strike="noStrike" noProof="1" dirty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5" name="矩形标注 14"/>
          <p:cNvSpPr/>
          <p:nvPr/>
        </p:nvSpPr>
        <p:spPr>
          <a:xfrm>
            <a:off x="1690370" y="1604645"/>
            <a:ext cx="1045845" cy="437515"/>
          </a:xfrm>
          <a:prstGeom prst="wedgeRectCallout">
            <a:avLst>
              <a:gd name="adj1" fmla="val -61778"/>
              <a:gd name="adj2" fmla="val 86865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1600" b="1" strike="noStrike" noProof="1">
                <a:solidFill>
                  <a:schemeClr val="tx1"/>
                </a:solidFill>
              </a:rPr>
              <a:t>2.</a:t>
            </a:r>
            <a:r>
              <a:rPr lang="zh-CN" altLang="en-US" sz="1200" strike="noStrike" noProof="1">
                <a:solidFill>
                  <a:schemeClr val="tx1"/>
                </a:solidFill>
              </a:rPr>
              <a:t>选中需打印的表格</a:t>
            </a:r>
            <a:endParaRPr lang="zh-CN" altLang="en-US" sz="1200" strike="noStrike" noProof="1" dirty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60400" y="1847215"/>
            <a:ext cx="436245" cy="141605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0"/>
          <p:cNvSpPr txBox="1"/>
          <p:nvPr/>
        </p:nvSpPr>
        <p:spPr>
          <a:xfrm>
            <a:off x="270510" y="5262880"/>
            <a:ext cx="8314690" cy="115316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square" anchor="t">
            <a:spAutoFit/>
          </a:bodyPr>
          <a:p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小窍门：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、采购申请单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、采购申请单（不汇总通用版）：按物料明细显示报表。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、采购申请单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、采购申请单（汇总通用版）：按物料汇总显示报表。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3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、采购申请单变更记录表（通用版）：用于发生变更时打印。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4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、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采购申请单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3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：</a:t>
            </a:r>
            <a:r>
              <a:rPr lang="zh-CN" sz="1100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此报表适用于采购申请中只有一张订单且订单中只有一个款的情况，其它情况的不会在第四行显示订单号、款号和</a:t>
            </a:r>
            <a:endParaRPr lang="zh-CN" sz="1100">
              <a:solidFill>
                <a:srgbClr val="000000"/>
              </a:solidFill>
              <a:ea typeface="宋体" panose="02010600030101010101" pitchFamily="2" charset="-122"/>
              <a:sym typeface="+mn-ea"/>
            </a:endParaRPr>
          </a:p>
          <a:p>
            <a:r>
              <a:rPr lang="zh-CN" sz="1100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      订单数量。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210" y="2007235"/>
            <a:ext cx="892175" cy="1282700"/>
          </a:xfrm>
          <a:prstGeom prst="rect">
            <a:avLst/>
          </a:prstGeom>
        </p:spPr>
      </p:pic>
      <p:sp>
        <p:nvSpPr>
          <p:cNvPr id="27" name="矩形 26"/>
          <p:cNvSpPr/>
          <p:nvPr/>
        </p:nvSpPr>
        <p:spPr>
          <a:xfrm>
            <a:off x="660400" y="2042160"/>
            <a:ext cx="895985" cy="1238250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1990" y="2637790"/>
            <a:ext cx="3313430" cy="2392680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3504565" y="3903345"/>
            <a:ext cx="2853690" cy="375920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矩形标注 20"/>
          <p:cNvSpPr/>
          <p:nvPr/>
        </p:nvSpPr>
        <p:spPr>
          <a:xfrm>
            <a:off x="4785995" y="3549015"/>
            <a:ext cx="1508760" cy="259080"/>
          </a:xfrm>
          <a:prstGeom prst="wedgeRectCallout">
            <a:avLst>
              <a:gd name="adj1" fmla="val -55768"/>
              <a:gd name="adj2" fmla="val 86865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1600" b="1" strike="noStrike" noProof="1">
                <a:solidFill>
                  <a:schemeClr val="tx1"/>
                </a:solidFill>
              </a:rPr>
              <a:t>3.</a:t>
            </a:r>
            <a:r>
              <a:rPr lang="zh-CN" altLang="en-US" sz="1200" dirty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点打开或保存</a:t>
            </a:r>
            <a:endParaRPr lang="zh-CN" altLang="en-US" sz="1200" strike="noStrike" noProof="1" dirty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5156835" y="4662805"/>
            <a:ext cx="619125" cy="257175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矩形标注 21"/>
          <p:cNvSpPr/>
          <p:nvPr/>
        </p:nvSpPr>
        <p:spPr>
          <a:xfrm>
            <a:off x="6026785" y="4403725"/>
            <a:ext cx="855345" cy="259080"/>
          </a:xfrm>
          <a:prstGeom prst="wedgeRectCallout">
            <a:avLst>
              <a:gd name="adj1" fmla="val -82887"/>
              <a:gd name="adj2" fmla="val 73039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1600" b="1" strike="noStrike" noProof="1">
                <a:solidFill>
                  <a:schemeClr val="tx1"/>
                </a:solidFill>
              </a:rPr>
              <a:t>4.</a:t>
            </a:r>
            <a:r>
              <a:rPr lang="zh-CN" altLang="en-US" sz="1200" dirty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点确定</a:t>
            </a:r>
            <a:endParaRPr lang="zh-CN" altLang="en-US" sz="1200" strike="noStrike" noProof="1" dirty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6" grpId="0" animBg="1"/>
      <p:bldP spid="27" grpId="0" bldLvl="0" animBg="1"/>
      <p:bldP spid="15" grpId="0" bldLvl="0" animBg="1"/>
      <p:bldP spid="19" grpId="0" animBg="1"/>
      <p:bldP spid="21" grpId="0" animBg="1"/>
      <p:bldP spid="20" grpId="0" animBg="1"/>
      <p:bldP spid="22" grpId="0" animBg="1"/>
      <p:bldP spid="25" grpId="0" bldLvl="0" animBg="1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5960</Words>
  <Application>WPS 演示</Application>
  <PresentationFormat>全屏显示(4:3)</PresentationFormat>
  <Paragraphs>281</Paragraphs>
  <Slides>16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3" baseType="lpstr">
      <vt:lpstr>Arial</vt:lpstr>
      <vt:lpstr>宋体</vt:lpstr>
      <vt:lpstr>Wingdings</vt:lpstr>
      <vt:lpstr>Calibri</vt:lpstr>
      <vt:lpstr>微软雅黑</vt:lpstr>
      <vt:lpstr>Arial Unicode MS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Administrator</cp:lastModifiedBy>
  <cp:revision>375</cp:revision>
  <dcterms:created xsi:type="dcterms:W3CDTF">2017-04-15T06:05:00Z</dcterms:created>
  <dcterms:modified xsi:type="dcterms:W3CDTF">2019-01-25T06:03:02Z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2052-11.1.0.8214</vt:lpwstr>
  </property>
  <property fmtid="{D5CDD505-2E9C-101B-9397-08002B2CF9AE}" pid="3" name="KSORubyTemplateID">
    <vt:lpwstr>13</vt:lpwstr>
  </property>
</Properties>
</file>