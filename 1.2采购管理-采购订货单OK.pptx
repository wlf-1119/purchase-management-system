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6"/>
  </p:handoutMasterIdLst>
  <p:sldIdLst>
    <p:sldId id="309" r:id="rId3"/>
    <p:sldId id="363" r:id="rId5"/>
    <p:sldId id="310" r:id="rId6"/>
    <p:sldId id="292" r:id="rId7"/>
    <p:sldId id="342" r:id="rId8"/>
    <p:sldId id="372" r:id="rId9"/>
    <p:sldId id="373" r:id="rId10"/>
    <p:sldId id="357" r:id="rId11"/>
    <p:sldId id="359" r:id="rId12"/>
    <p:sldId id="360" r:id="rId13"/>
    <p:sldId id="361" r:id="rId14"/>
    <p:sldId id="352" r:id="rId1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94" autoAdjust="0"/>
    <p:restoredTop sz="94563" autoAdjust="0"/>
  </p:normalViewPr>
  <p:slideViewPr>
    <p:cSldViewPr>
      <p:cViewPr>
        <p:scale>
          <a:sx n="75" d="100"/>
          <a:sy n="75" d="100"/>
        </p:scale>
        <p:origin x="-1248" y="108"/>
      </p:cViewPr>
      <p:guideLst>
        <p:guide orient="horz" pos="217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861AB9-842D-4A8E-91AC-36729E09A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8EA7FD-81C3-4654-BCFB-39DB0308240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7170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p>
            <a:pPr lvl="0" indent="0" algn="r" fontAlgn="base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</a:fld>
            <a:endParaRPr lang="zh-CN" altLang="en-US" sz="1200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7170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p>
            <a:pPr lvl="0" indent="0" algn="r" fontAlgn="base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</a:fld>
            <a:endParaRPr lang="zh-CN" altLang="en-US" sz="1200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EA7FD-81C3-4654-BCFB-39DB030824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EA7FD-81C3-4654-BCFB-39DB030824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EA7FD-81C3-4654-BCFB-39DB030824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536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536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</a:fld>
            <a:endParaRPr lang="zh-CN" altLang="en-US" sz="1200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7410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741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</a:fld>
            <a:endParaRPr lang="zh-CN" altLang="en-US" sz="1200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EA7FD-81C3-4654-BCFB-39DB030824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EA7FD-81C3-4654-BCFB-39DB030824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EA7FD-81C3-4654-BCFB-39DB030824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TextBox 22"/>
          <p:cNvSpPr txBox="1"/>
          <p:nvPr/>
        </p:nvSpPr>
        <p:spPr>
          <a:xfrm>
            <a:off x="2517140" y="149543"/>
            <a:ext cx="4110038" cy="52197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ctr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采购管理</a:t>
            </a:r>
            <a:endParaRPr kumimoji="0" lang="zh-CN" altLang="en-US" sz="2800" b="1" kern="1200" cap="none" spc="0" normalizeH="0" baseline="0" noProof="0" dirty="0">
              <a:solidFill>
                <a:schemeClr val="accent6">
                  <a:lumMod val="75000"/>
                </a:schemeClr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0" y="704850"/>
            <a:ext cx="9144000" cy="4127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147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" y="-1587"/>
            <a:ext cx="1898650" cy="673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6" name="文本框 1"/>
          <p:cNvSpPr txBox="1"/>
          <p:nvPr/>
        </p:nvSpPr>
        <p:spPr>
          <a:xfrm>
            <a:off x="177800" y="925513"/>
            <a:ext cx="8580438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2800" b="1" dirty="0">
                <a:latin typeface="Calibri" panose="020F0502020204030204" charset="0"/>
                <a:ea typeface="宋体" panose="02010600030101010101" pitchFamily="2" charset="-122"/>
                <a:sym typeface="宋体" panose="02010600030101010101" pitchFamily="2" charset="-122"/>
              </a:rPr>
              <a:t>采购单据包括以下几大类：</a:t>
            </a:r>
            <a:endParaRPr lang="zh-CN" altLang="en-US" sz="1200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6" name="文本框 1"/>
          <p:cNvSpPr txBox="1"/>
          <p:nvPr/>
        </p:nvSpPr>
        <p:spPr>
          <a:xfrm>
            <a:off x="9525" y="3030855"/>
            <a:ext cx="1202690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2000" dirty="0">
                <a:latin typeface="Calibri" panose="020F0502020204030204" charset="0"/>
                <a:ea typeface="宋体" panose="02010600030101010101" pitchFamily="2" charset="-122"/>
                <a:sym typeface="宋体" panose="02010600030101010101" pitchFamily="2" charset="-122"/>
              </a:rPr>
              <a:t>采购管理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" name="左大括号 1"/>
          <p:cNvSpPr/>
          <p:nvPr/>
        </p:nvSpPr>
        <p:spPr>
          <a:xfrm>
            <a:off x="1113790" y="1667510"/>
            <a:ext cx="467360" cy="3133090"/>
          </a:xfrm>
          <a:prstGeom prst="leftBrace">
            <a:avLst>
              <a:gd name="adj1" fmla="val 32376"/>
              <a:gd name="adj2" fmla="val 50000"/>
            </a:avLst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>
            <a:endParaRPr lang="zh-CN" altLang="en-US"/>
          </a:p>
        </p:txBody>
      </p:sp>
      <p:sp>
        <p:nvSpPr>
          <p:cNvPr id="3" name="文本框 1"/>
          <p:cNvSpPr txBox="1"/>
          <p:nvPr/>
        </p:nvSpPr>
        <p:spPr>
          <a:xfrm>
            <a:off x="1581150" y="1447800"/>
            <a:ext cx="7562850" cy="81026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l">
              <a:lnSpc>
                <a:spcPct val="130000"/>
              </a:lnSpc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1.</a:t>
            </a:r>
            <a:r>
              <a:rPr lang="zh-CN" altLang="en-US" dirty="0">
                <a:latin typeface="Calibri" panose="020F0502020204030204" charset="0"/>
                <a:ea typeface="宋体" panose="02010600030101010101" pitchFamily="2" charset="-122"/>
              </a:rPr>
              <a:t>采购申请单：严格控制订单需要购买的材料（</a:t>
            </a:r>
            <a:r>
              <a:rPr lang="zh-CN" altLang="en-US" dirty="0" smtClean="0">
                <a:sym typeface="+mn-ea"/>
              </a:rPr>
              <a:t>买多少物料、到哪里买、多少资金预算，预算交期）。通俗：批数量、批供应商、 批单价、批交期。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9" name="文本框 1"/>
          <p:cNvSpPr txBox="1"/>
          <p:nvPr/>
        </p:nvSpPr>
        <p:spPr>
          <a:xfrm>
            <a:off x="1510665" y="4612005"/>
            <a:ext cx="7578090" cy="1476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2.</a:t>
            </a:r>
            <a:r>
              <a:rPr lang="zh-CN" altLang="en-US" dirty="0">
                <a:latin typeface="Calibri" panose="020F0502020204030204" charset="0"/>
                <a:ea typeface="宋体" panose="02010600030101010101" pitchFamily="2" charset="-122"/>
              </a:rPr>
              <a:t>采购</a:t>
            </a:r>
            <a:r>
              <a:rPr lang="zh-CN" altLang="en-US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订货单：来源于采购申请单的数据。采购订货单</a:t>
            </a:r>
            <a:r>
              <a:rPr lang="zh-CN" altLang="en-US" dirty="0">
                <a:sym typeface="+mn-ea"/>
              </a:rPr>
              <a:t>考虑到企业个性化管理，提供了单据自定义、报表自定义（如：采购合同），系统提供最高限价控制手段，通过物料供应商资料页版，实现物料与供应商关联（同一物料不同供应商）等多种功能，从而实现企业标准化流程，满足企业的个性化需求。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TextBox 22"/>
          <p:cNvSpPr txBox="1"/>
          <p:nvPr/>
        </p:nvSpPr>
        <p:spPr>
          <a:xfrm>
            <a:off x="2517140" y="149543"/>
            <a:ext cx="4110038" cy="52197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ctr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采购管理</a:t>
            </a:r>
            <a:r>
              <a:rPr kumimoji="0" lang="en-US" altLang="zh-CN" sz="2800" b="1" kern="1200" cap="none" spc="0" normalizeH="0" baseline="0" noProof="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-</a:t>
            </a:r>
            <a:r>
              <a:rPr kumimoji="0" lang="zh-CN" altLang="en-US" sz="2800" b="1" kern="1200" cap="none" spc="0" normalizeH="0" baseline="0" noProof="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采购订货单</a:t>
            </a:r>
            <a:endParaRPr kumimoji="0" lang="zh-CN" altLang="en-US" sz="2800" b="1" kern="1200" cap="none" spc="0" normalizeH="0" baseline="0" noProof="0" dirty="0">
              <a:solidFill>
                <a:schemeClr val="accent6">
                  <a:lumMod val="75000"/>
                </a:schemeClr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0" y="704850"/>
            <a:ext cx="9144000" cy="4127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147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" y="-1587"/>
            <a:ext cx="1898650" cy="673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6" name="文本框 1"/>
          <p:cNvSpPr txBox="1"/>
          <p:nvPr/>
        </p:nvSpPr>
        <p:spPr>
          <a:xfrm>
            <a:off x="177800" y="925513"/>
            <a:ext cx="8580438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2800" b="1" dirty="0">
                <a:latin typeface="Calibri" panose="020F0502020204030204" charset="0"/>
                <a:ea typeface="宋体" panose="02010600030101010101" pitchFamily="2" charset="-122"/>
                <a:sym typeface="宋体" panose="02010600030101010101" pitchFamily="2" charset="-122"/>
              </a:rPr>
              <a:t>采购订货单操作方法：</a:t>
            </a:r>
            <a:endParaRPr lang="zh-CN" altLang="en-US" sz="1200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6" name="文本框 1"/>
          <p:cNvSpPr txBox="1"/>
          <p:nvPr/>
        </p:nvSpPr>
        <p:spPr>
          <a:xfrm>
            <a:off x="125095" y="3039745"/>
            <a:ext cx="1745615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2000" dirty="0">
                <a:latin typeface="Calibri" panose="020F0502020204030204" charset="0"/>
                <a:ea typeface="宋体" panose="02010600030101010101" pitchFamily="2" charset="-122"/>
                <a:sym typeface="宋体" panose="02010600030101010101" pitchFamily="2" charset="-122"/>
              </a:rPr>
              <a:t>采购订货单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" name="左大括号 1"/>
          <p:cNvSpPr/>
          <p:nvPr/>
        </p:nvSpPr>
        <p:spPr>
          <a:xfrm>
            <a:off x="1664970" y="1667510"/>
            <a:ext cx="467360" cy="3133090"/>
          </a:xfrm>
          <a:prstGeom prst="leftBrace">
            <a:avLst>
              <a:gd name="adj1" fmla="val 32376"/>
              <a:gd name="adj2" fmla="val 50000"/>
            </a:avLst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>
            <a:endParaRPr lang="zh-CN" altLang="en-US"/>
          </a:p>
        </p:txBody>
      </p:sp>
      <p:sp>
        <p:nvSpPr>
          <p:cNvPr id="3" name="文本框 1"/>
          <p:cNvSpPr txBox="1"/>
          <p:nvPr/>
        </p:nvSpPr>
        <p:spPr>
          <a:xfrm>
            <a:off x="2132330" y="1447800"/>
            <a:ext cx="6625590" cy="45085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dirty="0">
                <a:latin typeface="Calibri" panose="020F0502020204030204" charset="0"/>
                <a:ea typeface="宋体" panose="02010600030101010101" pitchFamily="2" charset="-122"/>
              </a:rPr>
              <a:t>方法</a:t>
            </a: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1</a:t>
            </a:r>
            <a:r>
              <a:rPr lang="zh-CN" altLang="en-US" dirty="0">
                <a:latin typeface="Calibri" panose="020F0502020204030204" charset="0"/>
                <a:ea typeface="宋体" panose="02010600030101010101" pitchFamily="2" charset="-122"/>
              </a:rPr>
              <a:t>：有来源单据（采购申请单）：用于按申请数量订购物料。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9" name="文本框 1"/>
          <p:cNvSpPr txBox="1"/>
          <p:nvPr/>
        </p:nvSpPr>
        <p:spPr>
          <a:xfrm>
            <a:off x="2061845" y="4612005"/>
            <a:ext cx="613029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dirty="0">
                <a:latin typeface="Calibri" panose="020F0502020204030204" charset="0"/>
                <a:ea typeface="宋体" panose="02010600030101010101" pitchFamily="2" charset="-122"/>
              </a:rPr>
              <a:t>方法</a:t>
            </a: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2</a:t>
            </a:r>
            <a:r>
              <a:rPr lang="zh-CN" altLang="en-US" dirty="0">
                <a:latin typeface="Calibri" panose="020F0502020204030204" charset="0"/>
                <a:ea typeface="宋体" panose="02010600030101010101" pitchFamily="2" charset="-122"/>
              </a:rPr>
              <a:t>：无来源单据（手工输入）：用于物料批量订购。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10" y="2099310"/>
            <a:ext cx="9018270" cy="453326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3660" y="149860"/>
            <a:ext cx="90487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noProof="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sym typeface="+mn-ea"/>
              </a:rPr>
              <a:t>采购管理</a:t>
            </a:r>
            <a:r>
              <a:rPr lang="en-US" altLang="zh-CN" sz="2800" b="1" dirty="0" smtClean="0">
                <a:solidFill>
                  <a:schemeClr val="accent6">
                    <a:lumMod val="75000"/>
                  </a:schemeClr>
                </a:solidFill>
                <a:sym typeface="+mn-ea"/>
              </a:rPr>
              <a:t>-</a:t>
            </a:r>
            <a:r>
              <a:rPr lang="zh-CN" altLang="en-US" sz="2800" b="1" dirty="0" smtClean="0">
                <a:solidFill>
                  <a:schemeClr val="accent6">
                    <a:lumMod val="75000"/>
                  </a:schemeClr>
                </a:solidFill>
                <a:sym typeface="+mn-ea"/>
              </a:rPr>
              <a:t>采购订货单</a:t>
            </a:r>
            <a:endParaRPr lang="zh-CN" altLang="en-US" sz="2800" b="1" dirty="0" smtClean="0">
              <a:solidFill>
                <a:schemeClr val="accent6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0" y="705396"/>
            <a:ext cx="9144000" cy="4009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2" y="-1984"/>
            <a:ext cx="1897752" cy="673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矩形 19"/>
          <p:cNvSpPr/>
          <p:nvPr/>
        </p:nvSpPr>
        <p:spPr>
          <a:xfrm>
            <a:off x="102870" y="2986405"/>
            <a:ext cx="756285" cy="129540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219075" y="3365500"/>
            <a:ext cx="640080" cy="127000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00" name="文本框 1"/>
          <p:cNvSpPr txBox="1"/>
          <p:nvPr/>
        </p:nvSpPr>
        <p:spPr>
          <a:xfrm>
            <a:off x="-3810" y="746125"/>
            <a:ext cx="9124950" cy="110680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2400" b="1" dirty="0">
                <a:latin typeface="Calibri" panose="020F0502020204030204" charset="0"/>
                <a:ea typeface="宋体" panose="02010600030101010101" pitchFamily="2" charset="-122"/>
              </a:rPr>
              <a:t>采购订货单用途：</a:t>
            </a:r>
            <a:r>
              <a:rPr lang="zh-CN" altLang="en-US" sz="14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来源于采购申请单的数据。采购订货单</a:t>
            </a:r>
            <a:r>
              <a:rPr lang="zh-CN" altLang="en-US" sz="1400" dirty="0">
                <a:sym typeface="+mn-ea"/>
              </a:rPr>
              <a:t>考虑到企业个性化管理，提供了单据自定义、报表自定义（如：采购合同），系统提供最高限价控制手段，通过物料供应商资料页版，实现物料与供应商关联（同一物料不同供应商）等多种功能，从而实现企业标准化流程，满足企业的个性化需求。</a:t>
            </a:r>
            <a:endParaRPr lang="zh-CN" altLang="en-US" sz="1400" dirty="0">
              <a:latin typeface="Calibri" panose="020F0502020204030204" charset="0"/>
              <a:ea typeface="宋体" panose="02010600030101010101" pitchFamily="2" charset="-122"/>
            </a:endParaRPr>
          </a:p>
          <a:p>
            <a:pPr eaLnBrk="0" hangingPunct="0">
              <a:buFont typeface="Arial" panose="020B0604020202020204" pitchFamily="34" charset="0"/>
              <a:buNone/>
            </a:pPr>
            <a:endParaRPr lang="zh-CN" altLang="en-US" sz="1400" dirty="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101" name="文本框 1"/>
          <p:cNvSpPr txBox="1"/>
          <p:nvPr/>
        </p:nvSpPr>
        <p:spPr>
          <a:xfrm>
            <a:off x="12065" y="1557655"/>
            <a:ext cx="8917940" cy="33718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1600" b="1" dirty="0">
                <a:latin typeface="Calibri" panose="020F0502020204030204" charset="0"/>
                <a:ea typeface="宋体" panose="02010600030101010101" pitchFamily="2" charset="-122"/>
              </a:rPr>
              <a:t>方法</a:t>
            </a:r>
            <a:r>
              <a:rPr lang="en-US" altLang="zh-CN" sz="1600" b="1" dirty="0">
                <a:latin typeface="Calibri" panose="020F0502020204030204" charset="0"/>
                <a:ea typeface="宋体" panose="02010600030101010101" pitchFamily="2" charset="-122"/>
              </a:rPr>
              <a:t>1</a:t>
            </a:r>
            <a:r>
              <a:rPr lang="zh-CN" altLang="en-US" sz="1600" b="1" dirty="0">
                <a:latin typeface="Calibri" panose="020F0502020204030204" charset="0"/>
                <a:ea typeface="宋体" panose="02010600030101010101" pitchFamily="2" charset="-122"/>
              </a:rPr>
              <a:t>（有来源单据：采购申请单）操作方法如下：</a:t>
            </a:r>
            <a:endParaRPr lang="zh-CN" altLang="en-US" sz="1600" b="1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4102" name="文本框 1"/>
          <p:cNvSpPr txBox="1"/>
          <p:nvPr/>
        </p:nvSpPr>
        <p:spPr>
          <a:xfrm>
            <a:off x="-2540" y="1823720"/>
            <a:ext cx="9124315" cy="27559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第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1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步：通过主菜单→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1.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点【 采购管理】→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2..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【采购订货单】。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                    </a:t>
            </a:r>
            <a:endParaRPr lang="zh-CN" altLang="en-US" sz="1200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7" name="矩形标注 6"/>
          <p:cNvSpPr/>
          <p:nvPr/>
        </p:nvSpPr>
        <p:spPr>
          <a:xfrm>
            <a:off x="1556385" y="3421380"/>
            <a:ext cx="1352550" cy="360680"/>
          </a:xfrm>
          <a:prstGeom prst="wedgeRectCallout">
            <a:avLst>
              <a:gd name="adj1" fmla="val -102629"/>
              <a:gd name="adj2" fmla="val -46654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2.</a:t>
            </a:r>
            <a:r>
              <a:rPr lang="zh-CN" altLang="en-US" sz="1200" strike="noStrike" noProof="1">
                <a:solidFill>
                  <a:schemeClr val="tx1"/>
                </a:solidFill>
              </a:rPr>
              <a:t>点采购订货单</a:t>
            </a:r>
            <a:endParaRPr lang="zh-CN" altLang="zh-CN" sz="1200" strike="noStrike" noProof="1">
              <a:solidFill>
                <a:schemeClr val="tx1"/>
              </a:solidFill>
            </a:endParaRPr>
          </a:p>
        </p:txBody>
      </p:sp>
      <p:sp>
        <p:nvSpPr>
          <p:cNvPr id="3" name="矩形标注 2"/>
          <p:cNvSpPr/>
          <p:nvPr/>
        </p:nvSpPr>
        <p:spPr>
          <a:xfrm>
            <a:off x="1659890" y="2524125"/>
            <a:ext cx="1144905" cy="335280"/>
          </a:xfrm>
          <a:prstGeom prst="wedgeRectCallout">
            <a:avLst>
              <a:gd name="adj1" fmla="val -120493"/>
              <a:gd name="adj2" fmla="val 108143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1.</a:t>
            </a:r>
            <a:r>
              <a:rPr lang="zh-CN" altLang="en-US" sz="1200" strike="noStrike" noProof="1">
                <a:solidFill>
                  <a:schemeClr val="tx1"/>
                </a:solidFill>
              </a:rPr>
              <a:t>点采购管理</a:t>
            </a:r>
            <a:endParaRPr lang="zh-CN" altLang="en-US" sz="1200" strike="noStrike" noProof="1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ldLvl="0" animBg="1"/>
      <p:bldP spid="3" grpId="0" bldLvl="0" animBg="1"/>
      <p:bldP spid="30" grpId="0" bldLvl="0" animBg="1"/>
      <p:bldP spid="7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620" y="1304925"/>
            <a:ext cx="8905240" cy="55073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8225" y="2176145"/>
            <a:ext cx="5913120" cy="33858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736214" y="141605"/>
            <a:ext cx="49321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采购管理</a:t>
            </a: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-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采购订货单</a:t>
            </a:r>
            <a:endParaRPr lang="zh-CN" altLang="en-US" sz="28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0" y="705396"/>
            <a:ext cx="9144000" cy="4009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2" y="-1984"/>
            <a:ext cx="1897752" cy="673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3810" y="734060"/>
            <a:ext cx="9139555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第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2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步：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1.</a:t>
            </a:r>
            <a:r>
              <a:rPr lang="zh-CN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点选择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2.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在弹出框内输入筛选条件（如：订单号、款号等）按回车→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3.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勾选需要订购的物料→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4.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点确定或添加到单据后系统会自动跳转到采购订货单页面。</a:t>
            </a:r>
            <a:endParaRPr lang="zh-CN" altLang="en-US" sz="1200" dirty="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8" name="矩形标注 7"/>
          <p:cNvSpPr/>
          <p:nvPr/>
        </p:nvSpPr>
        <p:spPr>
          <a:xfrm>
            <a:off x="2512060" y="1390015"/>
            <a:ext cx="868680" cy="290830"/>
          </a:xfrm>
          <a:prstGeom prst="wedgeRectCallout">
            <a:avLst>
              <a:gd name="adj1" fmla="val 52997"/>
              <a:gd name="adj2" fmla="val 134497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1.</a:t>
            </a:r>
            <a:r>
              <a:rPr lang="zh-CN" altLang="en-US" sz="1200" strike="noStrike" noProof="1">
                <a:solidFill>
                  <a:schemeClr val="tx1"/>
                </a:solidFill>
              </a:rPr>
              <a:t>点</a:t>
            </a:r>
            <a:r>
              <a:rPr lang="zh-CN" altLang="zh-CN" sz="1200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选择</a:t>
            </a:r>
            <a:endParaRPr lang="zh-CN" altLang="en-US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399155" y="1934845"/>
            <a:ext cx="367665" cy="15684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2386965" y="2314575"/>
            <a:ext cx="5757545" cy="63563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2340610" y="3178810"/>
            <a:ext cx="5768975" cy="487680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7010400" y="5368925"/>
            <a:ext cx="843915" cy="19240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标注 25"/>
          <p:cNvSpPr/>
          <p:nvPr/>
        </p:nvSpPr>
        <p:spPr>
          <a:xfrm>
            <a:off x="6516370" y="1425575"/>
            <a:ext cx="1628140" cy="666115"/>
          </a:xfrm>
          <a:prstGeom prst="wedgeRectCallout">
            <a:avLst>
              <a:gd name="adj1" fmla="val -32215"/>
              <a:gd name="adj2" fmla="val 82030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2.</a:t>
            </a:r>
            <a:r>
              <a:rPr lang="zh-CN" altLang="en-US" sz="1200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弹出框内输入筛选条件（如：订单号、款号等）按回车</a:t>
            </a:r>
            <a:endParaRPr lang="zh-CN" altLang="en-US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7" name="矩形标注 26"/>
          <p:cNvSpPr/>
          <p:nvPr/>
        </p:nvSpPr>
        <p:spPr>
          <a:xfrm>
            <a:off x="3185160" y="3867150"/>
            <a:ext cx="2449830" cy="199390"/>
          </a:xfrm>
          <a:prstGeom prst="wedgeRectCallout">
            <a:avLst>
              <a:gd name="adj1" fmla="val -38646"/>
              <a:gd name="adj2" fmla="val -140764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3.</a:t>
            </a:r>
            <a:r>
              <a:rPr lang="zh-CN" altLang="en-US" sz="1200" strike="noStrike" noProof="1">
                <a:solidFill>
                  <a:schemeClr val="tx1"/>
                </a:solidFill>
              </a:rPr>
              <a:t>勾选</a:t>
            </a:r>
            <a:r>
              <a:rPr lang="zh-CN" altLang="en-US" sz="1200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需要订购的物料</a:t>
            </a:r>
            <a:endParaRPr lang="zh-CN" altLang="en-US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8" name="矩形标注 27"/>
          <p:cNvSpPr/>
          <p:nvPr/>
        </p:nvSpPr>
        <p:spPr>
          <a:xfrm>
            <a:off x="7373620" y="4457065"/>
            <a:ext cx="1298575" cy="443865"/>
          </a:xfrm>
          <a:prstGeom prst="wedgeRectCallout">
            <a:avLst>
              <a:gd name="adj1" fmla="val -25207"/>
              <a:gd name="adj2" fmla="val 143419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4.</a:t>
            </a:r>
            <a:r>
              <a:rPr lang="zh-CN" altLang="en-US" sz="1200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点确定或添加到单据</a:t>
            </a:r>
            <a:endParaRPr lang="zh-CN" altLang="en-US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9" name="文本框 20"/>
          <p:cNvSpPr txBox="1"/>
          <p:nvPr/>
        </p:nvSpPr>
        <p:spPr>
          <a:xfrm>
            <a:off x="198120" y="5450205"/>
            <a:ext cx="6544945" cy="132207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>
            <a:spAutoFit/>
          </a:bodyPr>
          <a:p>
            <a:pPr algn="l"/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小窍门：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sz="1100" dirty="0">
                <a:latin typeface="宋体" panose="02010600030101010101" pitchFamily="2" charset="-122"/>
                <a:ea typeface="宋体" panose="02010600030101010101" pitchFamily="2" charset="-122"/>
              </a:rPr>
              <a:t>1、启用日期：启用日期没有勾选，查找范围就不受时间限制。</a:t>
            </a:r>
            <a:endParaRPr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sz="1100" dirty="0">
                <a:latin typeface="宋体" panose="02010600030101010101" pitchFamily="2" charset="-122"/>
                <a:ea typeface="宋体" panose="02010600030101010101" pitchFamily="2" charset="-122"/>
              </a:rPr>
              <a:t>3、是否选择整张单：勾选后系统会自动选中同一张采购订货单未</a:t>
            </a:r>
            <a:r>
              <a:rPr 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订购</a:t>
            </a:r>
            <a:r>
              <a:rPr sz="1100" dirty="0">
                <a:latin typeface="宋体" panose="02010600030101010101" pitchFamily="2" charset="-122"/>
                <a:ea typeface="宋体" panose="02010600030101010101" pitchFamily="2" charset="-122"/>
              </a:rPr>
              <a:t>的数据。</a:t>
            </a:r>
            <a:endParaRPr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sz="1100" dirty="0">
                <a:latin typeface="宋体" panose="02010600030101010101" pitchFamily="2" charset="-122"/>
                <a:ea typeface="宋体" panose="02010600030101010101" pitchFamily="2" charset="-122"/>
              </a:rPr>
              <a:t>4、</a:t>
            </a:r>
            <a:r>
              <a:rPr sz="1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★</a:t>
            </a:r>
            <a:r>
              <a:rPr sz="1100" dirty="0">
                <a:latin typeface="宋体" panose="02010600030101010101" pitchFamily="2" charset="-122"/>
                <a:ea typeface="宋体" panose="02010600030101010101" pitchFamily="2" charset="-122"/>
              </a:rPr>
              <a:t>是否选择同一客商：勾选后系统会自动选中同一个供应商未</a:t>
            </a:r>
            <a:r>
              <a:rPr lang="zh-CN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订购</a:t>
            </a:r>
            <a:r>
              <a:rPr sz="1100" dirty="0">
                <a:latin typeface="宋体" panose="02010600030101010101" pitchFamily="2" charset="-122"/>
                <a:ea typeface="宋体" panose="02010600030101010101" pitchFamily="2" charset="-122"/>
              </a:rPr>
              <a:t>的数据。</a:t>
            </a:r>
            <a:endParaRPr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sz="1100" dirty="0">
                <a:latin typeface="宋体" panose="02010600030101010101" pitchFamily="2" charset="-122"/>
                <a:ea typeface="宋体" panose="02010600030101010101" pitchFamily="2" charset="-122"/>
              </a:rPr>
              <a:t>5、</a:t>
            </a:r>
            <a:r>
              <a:rPr sz="1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★</a:t>
            </a:r>
            <a:r>
              <a:rPr sz="1100" dirty="0">
                <a:latin typeface="宋体" panose="02010600030101010101" pitchFamily="2" charset="-122"/>
                <a:ea typeface="宋体" panose="02010600030101010101" pitchFamily="2" charset="-122"/>
              </a:rPr>
              <a:t>添加到单据与确定的区别：当需要选择多个物料时，点添加到单据；如果只有一个物料，就点确定。</a:t>
            </a:r>
            <a:endParaRPr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、当在物料资料中设定了采购员，勾选我要采购的物料，系统会自动显示此操作员需要购买的物料。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7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、一张采购订货单上只允许开同一个供应商的物料订购。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21" grpId="0" animBg="1"/>
      <p:bldP spid="26" grpId="0" animBg="1"/>
      <p:bldP spid="22" grpId="0" animBg="1"/>
      <p:bldP spid="27" grpId="0" animBg="1"/>
      <p:bldP spid="28" grpId="0" animBg="1"/>
      <p:bldP spid="25" grpId="0" animBg="1"/>
      <p:bldP spid="29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95" y="1327785"/>
            <a:ext cx="8914765" cy="53390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736214" y="141605"/>
            <a:ext cx="49321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采购管理</a:t>
            </a: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-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采购订货单</a:t>
            </a:r>
            <a:endParaRPr lang="zh-CN" altLang="en-US" sz="28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0" y="705396"/>
            <a:ext cx="9144000" cy="4009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2" y="-1984"/>
            <a:ext cx="1897752" cy="673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3810" y="734060"/>
            <a:ext cx="9139555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第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3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步：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1.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在主表内输入相关信息（供应商、交货日期等）→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2.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在子表内输入相关信息（采购单价、数量等）→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3.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点保存→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4.点审核（审核权限参考权限表）。</a:t>
            </a:r>
            <a:endParaRPr lang="en-US" altLang="zh-CN" sz="1200" dirty="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60350" y="2135505"/>
            <a:ext cx="8753475" cy="495300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标注 6"/>
          <p:cNvSpPr/>
          <p:nvPr/>
        </p:nvSpPr>
        <p:spPr>
          <a:xfrm>
            <a:off x="5804535" y="1524000"/>
            <a:ext cx="830580" cy="288925"/>
          </a:xfrm>
          <a:prstGeom prst="wedgeRectCallout">
            <a:avLst>
              <a:gd name="adj1" fmla="val -77599"/>
              <a:gd name="adj2" fmla="val 117472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4.</a:t>
            </a:r>
            <a:r>
              <a:rPr lang="zh-CN" altLang="en-US" sz="1200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点审核</a:t>
            </a:r>
            <a:endParaRPr lang="zh-CN" altLang="en-US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0" name="矩形标注 9"/>
          <p:cNvSpPr/>
          <p:nvPr/>
        </p:nvSpPr>
        <p:spPr>
          <a:xfrm>
            <a:off x="260350" y="1635125"/>
            <a:ext cx="3514090" cy="306705"/>
          </a:xfrm>
          <a:prstGeom prst="wedgeRectCallout">
            <a:avLst>
              <a:gd name="adj1" fmla="val -14510"/>
              <a:gd name="adj2" fmla="val 109627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1.</a:t>
            </a:r>
            <a:r>
              <a:rPr lang="zh-CN" altLang="en-US" sz="1200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在主表内输入相关信息（供应商、交货日期等）</a:t>
            </a:r>
            <a:endParaRPr lang="zh-CN" altLang="en-US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1" name="矩形标注 10"/>
          <p:cNvSpPr/>
          <p:nvPr/>
        </p:nvSpPr>
        <p:spPr>
          <a:xfrm>
            <a:off x="4274185" y="1524000"/>
            <a:ext cx="832485" cy="288925"/>
          </a:xfrm>
          <a:prstGeom prst="wedgeRectCallout">
            <a:avLst>
              <a:gd name="adj1" fmla="val 39168"/>
              <a:gd name="adj2" fmla="val 98791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3.</a:t>
            </a:r>
            <a:r>
              <a:rPr lang="zh-CN" altLang="en-US" sz="1200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点保存</a:t>
            </a:r>
            <a:endParaRPr lang="en-US" altLang="zh-CN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98695" y="1925955"/>
            <a:ext cx="351155" cy="15811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183505" y="1925955"/>
            <a:ext cx="395605" cy="157480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标注 7"/>
          <p:cNvSpPr/>
          <p:nvPr/>
        </p:nvSpPr>
        <p:spPr>
          <a:xfrm>
            <a:off x="1761490" y="2774950"/>
            <a:ext cx="3514090" cy="306705"/>
          </a:xfrm>
          <a:prstGeom prst="wedgeRectCallout">
            <a:avLst>
              <a:gd name="adj1" fmla="val -35110"/>
              <a:gd name="adj2" fmla="val 112939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2.</a:t>
            </a:r>
            <a:r>
              <a:rPr lang="zh-CN" altLang="en-US" sz="1200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在子表内输入相关信息（采购单价、数量等）</a:t>
            </a:r>
            <a:endParaRPr lang="zh-CN" altLang="en-US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60985" y="3309620"/>
            <a:ext cx="8752205" cy="353060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20"/>
          <p:cNvSpPr txBox="1"/>
          <p:nvPr/>
        </p:nvSpPr>
        <p:spPr>
          <a:xfrm>
            <a:off x="34925" y="4115435"/>
            <a:ext cx="9074150" cy="272732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>
            <a:spAutoFit/>
          </a:bodyPr>
          <a:p>
            <a:pPr algn="l"/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小窍门：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、交货方式、交货地址、币种、税率、扣税类型、结算方式：在供应商资料里设定后，会自动带出，可手工修改。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、供应商：默认情况下带出采购申请单输入的供应商，可手工修改。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、定金、现金账户、银行账户：当需要付定金时输入，财务审核后，会产生对应的预付款，财务做付款单时，可用定金冲账。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、报表序号：</a:t>
            </a:r>
            <a:r>
              <a:rPr lang="zh-CN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输入不同的序号，可导出不同类型条款的采购订货单（需要在模板中</a:t>
            </a:r>
            <a:r>
              <a:rPr lang="zh-CN" sz="1100" dirty="0">
                <a:latin typeface="宋体" panose="02010600030101010101" pitchFamily="2" charset="-122"/>
                <a:sym typeface="+mn-ea"/>
              </a:rPr>
              <a:t>先</a:t>
            </a:r>
            <a:r>
              <a:rPr lang="zh-CN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设定条款）。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、数量、单价：默认带出采购申请单输入的首次批准数量和批准单价，可手工修改。当单价超过设定的单价时，系统会提示用特权密码审核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   通过，同时系统也会记录使用特权密码的通过的次数和金额。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、允许超收数量、允许超收比例：</a:t>
            </a:r>
            <a:r>
              <a:rPr lang="zh-CN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用于设置仓库允许超收比例或数量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,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当入仓数量大于订购数量的超收范围时，需用特权密码才能通过（在   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参数设置启用后生效）。</a:t>
            </a:r>
            <a:endParaRPr sz="1100" noProof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7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、交货日期：当同一张采购订货单内的物料有不同交期时，才需使用。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、回复交期、回复原因：供应商回复的实际交期及原因说明。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、报价单价：报价单价来源于【产品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BOM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】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【报价资料】页版输入的物料报价单价，系统可设置采购单价不允许超过报价单价。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最高采购单价、最低采购单价：系统自动记录物料的最低采购单价与最高采购单价，系统可设置采购单价不允许超过最高采购单价。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11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、单价：双击单价可以看到历史采购单价。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12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、采购结算单位、采购结算单位系数：在【物料供应商资料】中设定后，会自动带入，可手工修改。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6" grpId="0" animBg="1"/>
      <p:bldP spid="9" grpId="0" animBg="1"/>
      <p:bldP spid="8" grpId="0" bldLvl="0" animBg="1"/>
      <p:bldP spid="11" grpId="0" animBg="1"/>
      <p:bldP spid="12" grpId="0" animBg="1"/>
      <p:bldP spid="13" grpId="0" animBg="1"/>
      <p:bldP spid="7" grpId="0" animBg="1"/>
      <p:bldP spid="14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TextBox 22"/>
          <p:cNvSpPr txBox="1"/>
          <p:nvPr/>
        </p:nvSpPr>
        <p:spPr>
          <a:xfrm>
            <a:off x="2330450" y="74613"/>
            <a:ext cx="4943475" cy="522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ctr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2800" b="1" kern="1200" cap="none" spc="0" normalizeH="0" baseline="0" noProof="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采购管理</a:t>
            </a:r>
            <a:r>
              <a:rPr kumimoji="0" lang="en-US" altLang="zh-CN" sz="2800" b="1" kern="1200" cap="none" spc="0" normalizeH="0" baseline="0" noProof="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-</a:t>
            </a:r>
            <a:r>
              <a:rPr kumimoji="0" lang="zh-CN" altLang="en-US" sz="2800" b="1" kern="1200" cap="none" spc="0" normalizeH="0" baseline="0" noProof="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采购订货单</a:t>
            </a:r>
            <a:endParaRPr kumimoji="0" lang="zh-CN" altLang="en-US" sz="2800" b="1" kern="1200" cap="none" spc="0" normalizeH="0" baseline="0" noProof="0" dirty="0">
              <a:solidFill>
                <a:schemeClr val="accent6">
                  <a:lumMod val="75000"/>
                </a:schemeClr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0" y="704850"/>
            <a:ext cx="9144000" cy="4127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4339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" y="-1587"/>
            <a:ext cx="1898650" cy="673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340" name="文本框 2"/>
          <p:cNvSpPr txBox="1"/>
          <p:nvPr/>
        </p:nvSpPr>
        <p:spPr>
          <a:xfrm>
            <a:off x="0" y="746125"/>
            <a:ext cx="913447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采购订货单主表字段解释：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269" name="文本框 2"/>
          <p:cNvSpPr txBox="1"/>
          <p:nvPr/>
        </p:nvSpPr>
        <p:spPr>
          <a:xfrm>
            <a:off x="67628" y="1042670"/>
            <a:ext cx="8897938" cy="549275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lnSpc>
                <a:spcPct val="200000"/>
              </a:lnSpc>
            </a:pP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{</a:t>
            </a:r>
            <a:r>
              <a:rPr lang="zh-CN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采购单号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}：</a:t>
            </a:r>
            <a:r>
              <a:rPr lang="zh-CN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可根据编码规则设定自动生成或手工编写，不允许重复，重复无法保存。</a:t>
            </a:r>
            <a:endParaRPr sz="1350" noProof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200000"/>
              </a:lnSpc>
            </a:pP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{</a:t>
            </a:r>
            <a:r>
              <a:rPr lang="zh-CN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采购日期、交货日期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}：</a:t>
            </a:r>
            <a:r>
              <a:rPr lang="zh-CN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记录采购订购日期及要求供应商交货日期。</a:t>
            </a:r>
            <a:endParaRPr sz="1350" noProof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</a:pP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{</a:t>
            </a:r>
            <a:r>
              <a:rPr lang="zh-CN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采购员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}：</a:t>
            </a:r>
            <a:r>
              <a:rPr lang="zh-CN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记录采购订货单由谁去采购的。</a:t>
            </a:r>
            <a:endParaRPr sz="1350" noProof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</a:pP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{</a:t>
            </a:r>
            <a:r>
              <a:rPr lang="zh-CN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交货方式、交货地址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}：</a:t>
            </a:r>
            <a:r>
              <a:rPr lang="zh-CN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要求供应商的交货方式及地址，客商资料中输入后，可自动带出。</a:t>
            </a:r>
            <a:endParaRPr sz="1350" noProof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200000"/>
              </a:lnSpc>
            </a:pP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{</a:t>
            </a:r>
            <a:r>
              <a:rPr lang="zh-CN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供应商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}：</a:t>
            </a:r>
            <a:r>
              <a:rPr lang="zh-CN" altLang="en-US" sz="1350" dirty="0">
                <a:latin typeface="宋体" panose="02010600030101010101" pitchFamily="2" charset="-122"/>
                <a:sym typeface="+mn-ea"/>
              </a:rPr>
              <a:t>默认情况下带出采购申请单输入的供应商，可手工修改。</a:t>
            </a:r>
            <a:endParaRPr sz="1350" noProof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</a:pP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{</a:t>
            </a:r>
            <a:r>
              <a:rPr lang="zh-CN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币种、汇率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}：</a:t>
            </a:r>
            <a:r>
              <a:rPr lang="zh-CN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与供应商结算使用的币种。客商资料中输入后，可自动带出。</a:t>
            </a:r>
            <a:endParaRPr sz="1350" noProof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</a:pP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{</a:t>
            </a:r>
            <a:r>
              <a:rPr lang="zh-CN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扣税类型、税率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}：</a:t>
            </a:r>
            <a:r>
              <a:rPr lang="zh-CN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采购订购单供应商订购材料的含税类型及税率，客商资料中输入后，可自动带出。</a:t>
            </a:r>
            <a:endParaRPr sz="1350" noProof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</a:pP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{</a:t>
            </a:r>
            <a:r>
              <a:rPr lang="zh-CN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结算日期、结算方式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}：</a:t>
            </a:r>
            <a:r>
              <a:rPr lang="zh-CN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与供应商谈好的结算日期、结算方式，客商资料中输入后，可自动带出。</a:t>
            </a:r>
            <a:endParaRPr sz="1350" noProof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</a:pP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{</a:t>
            </a:r>
            <a:r>
              <a:rPr lang="zh-CN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备注、备注</a:t>
            </a:r>
            <a:r>
              <a:rPr lang="en-US" altLang="zh-CN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2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}</a:t>
            </a:r>
            <a:r>
              <a:rPr lang="zh-CN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：</a:t>
            </a:r>
            <a:r>
              <a:rPr lang="zh-CN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针对整张采购订货单的备注说明。</a:t>
            </a:r>
            <a:endParaRPr sz="1350" noProof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</a:pP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{</a:t>
            </a:r>
            <a:r>
              <a:rPr lang="zh-CN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定金、银行账户、现金账户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}：</a:t>
            </a:r>
            <a:r>
              <a:rPr lang="zh-CN" altLang="en-US" sz="1350" dirty="0">
                <a:latin typeface="宋体" panose="02010600030101010101" pitchFamily="2" charset="-122"/>
                <a:sym typeface="+mn-ea"/>
              </a:rPr>
              <a:t>当输入</a:t>
            </a:r>
            <a:r>
              <a:rPr lang="zh-CN" altLang="en-US" sz="1350" dirty="0">
                <a:latin typeface="宋体" panose="02010600030101010101" pitchFamily="2" charset="-122"/>
                <a:sym typeface="+mn-ea"/>
              </a:rPr>
              <a:t>定金</a:t>
            </a:r>
            <a:r>
              <a:rPr lang="zh-CN" altLang="en-US" sz="1350" dirty="0">
                <a:latin typeface="宋体" panose="02010600030101010101" pitchFamily="2" charset="-122"/>
                <a:sym typeface="+mn-ea"/>
              </a:rPr>
              <a:t>，财务审核后，会产生对应的预付款，财务做付款单时，可用</a:t>
            </a:r>
            <a:endParaRPr lang="zh-CN" altLang="en-US" sz="1350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zh-CN" altLang="en-US" sz="1350" dirty="0">
                <a:latin typeface="宋体" panose="02010600030101010101" pitchFamily="2" charset="-122"/>
                <a:sym typeface="+mn-ea"/>
              </a:rPr>
              <a:t>                            定金冲账。</a:t>
            </a:r>
            <a:endParaRPr sz="1350" b="1" noProof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</a:pPr>
            <a:r>
              <a:rPr sz="120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{</a:t>
            </a:r>
            <a:r>
              <a:rPr lang="zh-CN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加工商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}：</a:t>
            </a:r>
            <a:r>
              <a:rPr lang="zh-CN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要求供应商物料送到哪家加工商。适用于订购材料后，直接送到加工厂的模式。</a:t>
            </a:r>
            <a:endParaRPr lang="zh-CN" sz="1350" noProof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200000"/>
              </a:lnSpc>
            </a:pP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{</a:t>
            </a:r>
            <a:r>
              <a:rPr lang="zh-CN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报表序号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}：</a:t>
            </a:r>
            <a:r>
              <a:rPr lang="zh-CN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输入不同的序号，可导出不同类型条款的采购订货单（需要在模板中</a:t>
            </a:r>
            <a:r>
              <a:rPr lang="zh-CN" sz="1350" dirty="0">
                <a:latin typeface="宋体" panose="02010600030101010101" pitchFamily="2" charset="-122"/>
                <a:sym typeface="+mn-ea"/>
              </a:rPr>
              <a:t>先</a:t>
            </a:r>
            <a:r>
              <a:rPr lang="zh-CN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设定条款）。</a:t>
            </a:r>
            <a:endParaRPr lang="zh-CN" sz="1350" noProof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ransition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TextBox 22"/>
          <p:cNvSpPr txBox="1"/>
          <p:nvPr/>
        </p:nvSpPr>
        <p:spPr>
          <a:xfrm>
            <a:off x="2330450" y="74613"/>
            <a:ext cx="4943475" cy="522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ctr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2800" b="1" kern="1200" cap="none" spc="0" normalizeH="0" baseline="0" noProof="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采购管理</a:t>
            </a:r>
            <a:r>
              <a:rPr kumimoji="0" lang="en-US" altLang="zh-CN" sz="2800" b="1" kern="1200" cap="none" spc="0" normalizeH="0" baseline="0" noProof="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-</a:t>
            </a:r>
            <a:r>
              <a:rPr kumimoji="0" lang="zh-CN" altLang="en-US" sz="2800" b="1" kern="1200" cap="none" spc="0" normalizeH="0" baseline="0" noProof="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采购订货单</a:t>
            </a:r>
            <a:endParaRPr kumimoji="0" lang="zh-CN" altLang="en-US" sz="2800" b="1" kern="1200" cap="none" spc="0" normalizeH="0" baseline="0" noProof="0" dirty="0">
              <a:solidFill>
                <a:schemeClr val="accent6">
                  <a:lumMod val="75000"/>
                </a:schemeClr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0" y="704850"/>
            <a:ext cx="9144000" cy="4127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6387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" y="-1587"/>
            <a:ext cx="1898650" cy="673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9" name="文本框 2"/>
          <p:cNvSpPr txBox="1"/>
          <p:nvPr/>
        </p:nvSpPr>
        <p:spPr>
          <a:xfrm>
            <a:off x="71438" y="740410"/>
            <a:ext cx="8897938" cy="53543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lnSpc>
                <a:spcPct val="100000"/>
              </a:lnSpc>
            </a:pP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采购订货单采购明细页版字段解释：</a:t>
            </a:r>
            <a:endParaRPr lang="zh-CN" altLang="en-US" sz="135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endParaRPr sz="1350" b="1" noProof="1" dirty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>
              <a:lnSpc>
                <a:spcPct val="100000"/>
              </a:lnSpc>
            </a:pP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{</a:t>
            </a:r>
            <a:r>
              <a:rPr lang="zh-CN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我要催、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催次、被催次}：</a:t>
            </a:r>
            <a:r>
              <a:rPr lang="zh-CN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记录催人家的次数及人家催我的次数，可在工作台显示。</a:t>
            </a:r>
            <a:endParaRPr sz="1350" noProof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{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*订单号</a:t>
            </a:r>
            <a:r>
              <a:rPr lang="zh-CN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、</a:t>
            </a:r>
            <a:r>
              <a:rPr lang="zh-CN" altLang="en-US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款号列表、客户款号列表、客户产品名称列表、子单编号列表、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客户单号</a:t>
            </a:r>
            <a:r>
              <a:rPr lang="zh-CN" altLang="en-US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}：</a:t>
            </a:r>
            <a:r>
              <a:rPr lang="zh-CN" altLang="en-US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记录订单材料使用在哪</a:t>
            </a:r>
            <a:endParaRPr lang="zh-CN" altLang="en-US" sz="1350" noProof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zh-CN" altLang="en-US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      些订单、哪些款上。</a:t>
            </a:r>
            <a:endParaRPr sz="1350" noProof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{物料分类、物料编号、物料名称、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旧编号</a:t>
            </a:r>
            <a:r>
              <a:rPr lang="zh-CN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、</a:t>
            </a:r>
            <a:r>
              <a:rPr lang="zh-CN" altLang="en-US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规格、颜色、</a:t>
            </a:r>
            <a:r>
              <a:rPr lang="zh-CN" altLang="en-US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起订量</a:t>
            </a:r>
            <a:r>
              <a:rPr lang="zh-CN" altLang="en-US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}：</a:t>
            </a:r>
            <a:r>
              <a:rPr lang="zh-CN" altLang="en-US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记录关联的物料信息，在物料资料中增加好</a:t>
            </a:r>
            <a:endParaRPr lang="zh-CN" altLang="en-US" sz="1350" noProof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zh-CN" altLang="en-US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     后可自动带出。可作为采购订货单查询条件。</a:t>
            </a:r>
            <a:endParaRPr sz="1350" noProof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{供方货号}：</a:t>
            </a:r>
            <a:r>
              <a:rPr lang="zh-CN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供应商的物料名称或货号，可在供应商物料资料中设定后，在此自动显示。或在此处填写后，当材</a:t>
            </a:r>
            <a:endParaRPr lang="zh-CN" sz="1350" noProof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        料入仓了会自动反填到物料供应商资料中（要在参数设置中启用后生效）。</a:t>
            </a:r>
            <a:endParaRPr lang="zh-CN" sz="1350" noProof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{数量}：</a:t>
            </a:r>
            <a:r>
              <a:rPr lang="zh-CN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采购下给供应商的订购数量。</a:t>
            </a:r>
            <a:endParaRPr sz="1350" noProof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{允许超收比率</a:t>
            </a:r>
            <a:r>
              <a:rPr lang="zh-CN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、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允许超收数量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}：</a:t>
            </a:r>
            <a:r>
              <a:rPr lang="zh-CN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用于设置仓库允许超收比例或数量</a:t>
            </a:r>
            <a:r>
              <a:rPr lang="en-US" altLang="zh-CN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,</a:t>
            </a:r>
            <a:r>
              <a:rPr lang="zh-CN" altLang="en-US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当入仓数量大于订购数量</a:t>
            </a:r>
            <a:r>
              <a:rPr lang="zh-CN" altLang="en-US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的</a:t>
            </a:r>
            <a:r>
              <a:rPr lang="zh-CN" altLang="en-US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超收范围时，</a:t>
            </a:r>
            <a:endParaRPr lang="zh-CN" altLang="en-US" sz="1350" noProof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                          需用特权密码才能通过（在参数设置启用后生效）。</a:t>
            </a:r>
            <a:endParaRPr sz="1350" noProof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{采购结算单位</a:t>
            </a:r>
            <a:r>
              <a:rPr lang="zh-CN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、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采购结算单位系数</a:t>
            </a:r>
            <a:r>
              <a:rPr lang="zh-CN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、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采购结算单位数量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}：</a:t>
            </a:r>
            <a:r>
              <a:rPr lang="zh-CN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用于供应商送货的单位与库存单位不一时使用。（在</a:t>
            </a:r>
            <a:endParaRPr lang="zh-CN" sz="1350" noProof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                                                系统参数设置中启用后生效）</a:t>
            </a:r>
            <a:endParaRPr sz="1350" noProof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{*回复交期</a:t>
            </a:r>
            <a:r>
              <a:rPr lang="zh-CN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、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回复原因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}：</a:t>
            </a:r>
            <a:r>
              <a:rPr lang="zh-CN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用于采购追物料，供应商无法按期交货时填写。</a:t>
            </a:r>
            <a:endParaRPr lang="zh-CN" sz="1350" noProof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{*单价}：</a:t>
            </a:r>
            <a:r>
              <a:rPr lang="zh-CN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与供应商确认好的订购单价（双击可弹出所有历史记录）。</a:t>
            </a:r>
            <a:endParaRPr lang="zh-CN" sz="1350" noProof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{折后含税单价</a:t>
            </a:r>
            <a:r>
              <a:rPr lang="zh-CN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、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折扣比率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}：</a:t>
            </a:r>
            <a:r>
              <a:rPr lang="zh-CN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与供应商确认的物料单价折扣。</a:t>
            </a:r>
            <a:endParaRPr sz="1350" noProof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{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税款</a:t>
            </a:r>
            <a:r>
              <a:rPr lang="zh-CN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、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价税合计</a:t>
            </a:r>
            <a:r>
              <a:rPr lang="zh-CN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、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货款}：</a:t>
            </a:r>
            <a:r>
              <a:rPr lang="zh-CN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统计材料的税款、货款信息。</a:t>
            </a:r>
            <a:endParaRPr sz="1350" noProof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{报价单价</a:t>
            </a:r>
            <a:r>
              <a:rPr lang="zh-CN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、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最低采购单价</a:t>
            </a:r>
            <a:r>
              <a:rPr lang="zh-CN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、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最高采购单价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}：</a:t>
            </a:r>
            <a:r>
              <a:rPr lang="zh-CN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供采购订购时参考。（</a:t>
            </a:r>
            <a:r>
              <a:rPr lang="zh-CN" altLang="en-US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报价单价</a:t>
            </a:r>
            <a:r>
              <a:rPr lang="zh-CN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来源于产品</a:t>
            </a:r>
            <a:r>
              <a:rPr lang="en-US" altLang="zh-CN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BOM</a:t>
            </a:r>
            <a:r>
              <a:rPr lang="zh-CN" altLang="en-US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物料的报价单价，</a:t>
            </a:r>
            <a:endParaRPr lang="zh-CN" altLang="en-US" sz="1350" noProof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                                    采购订购的历史最高、最低采购价</a:t>
            </a:r>
            <a:r>
              <a:rPr lang="zh-CN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）。</a:t>
            </a:r>
            <a:endParaRPr lang="zh-CN" sz="1350" noProof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{备注</a:t>
            </a:r>
            <a:r>
              <a:rPr lang="zh-CN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、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特别说明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}：</a:t>
            </a:r>
            <a:r>
              <a:rPr lang="zh-CN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可填写某行物料的特别说明，或在采购申请单填写好后，可自动带出。</a:t>
            </a:r>
            <a:endParaRPr sz="1350" noProof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{交货日期</a:t>
            </a:r>
            <a:r>
              <a:rPr lang="zh-CN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、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申请单交货日期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}：</a:t>
            </a:r>
            <a:r>
              <a:rPr lang="zh-CN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要求材料的交货日期（申请单交货日期：物控部门要求采购的材料交期。交货日</a:t>
            </a:r>
            <a:endParaRPr lang="zh-CN" sz="1350" noProof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                        期：采购要求供应商的交期）</a:t>
            </a:r>
            <a:endParaRPr lang="zh-CN" sz="1350" noProof="1" dirty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>
              <a:lnSpc>
                <a:spcPct val="100000"/>
              </a:lnSpc>
            </a:pPr>
            <a:r>
              <a:rPr sz="1350" b="1" dirty="0">
                <a:latin typeface="宋体" panose="02010600030101010101" pitchFamily="2" charset="-122"/>
                <a:sym typeface="+mn-ea"/>
              </a:rPr>
              <a:t>{已入仓数量</a:t>
            </a:r>
            <a:r>
              <a:rPr lang="zh-CN" sz="1350" b="1" dirty="0">
                <a:latin typeface="宋体" panose="02010600030101010101" pitchFamily="2" charset="-122"/>
                <a:sym typeface="+mn-ea"/>
              </a:rPr>
              <a:t>、</a:t>
            </a:r>
            <a:r>
              <a:rPr sz="1350" b="1" dirty="0">
                <a:latin typeface="宋体" panose="02010600030101010101" pitchFamily="2" charset="-122"/>
                <a:sym typeface="+mn-ea"/>
              </a:rPr>
              <a:t>已退货数量</a:t>
            </a:r>
            <a:r>
              <a:rPr lang="zh-CN" sz="1350" b="1" dirty="0">
                <a:latin typeface="宋体" panose="02010600030101010101" pitchFamily="2" charset="-122"/>
                <a:sym typeface="+mn-ea"/>
              </a:rPr>
              <a:t>、</a:t>
            </a:r>
            <a:r>
              <a:rPr sz="1350" b="1" dirty="0">
                <a:latin typeface="宋体" panose="02010600030101010101" pitchFamily="2" charset="-122"/>
                <a:sym typeface="+mn-ea"/>
              </a:rPr>
              <a:t>最后入仓日期}：</a:t>
            </a:r>
            <a:r>
              <a:rPr lang="zh-CN" sz="1350" dirty="0">
                <a:latin typeface="宋体" panose="02010600030101010101" pitchFamily="2" charset="-122"/>
                <a:sym typeface="+mn-ea"/>
              </a:rPr>
              <a:t>材料经过采购入仓后，系统自动将物料的入仓信息反填至此。</a:t>
            </a:r>
            <a:endParaRPr sz="1350" noProof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sz="1350" b="1" dirty="0">
                <a:latin typeface="宋体" panose="02010600030101010101" pitchFamily="2" charset="-122"/>
                <a:sym typeface="+mn-ea"/>
              </a:rPr>
              <a:t>{来源单号</a:t>
            </a:r>
            <a:r>
              <a:rPr lang="zh-CN" sz="1350" b="1" dirty="0">
                <a:latin typeface="宋体" panose="02010600030101010101" pitchFamily="2" charset="-122"/>
                <a:sym typeface="+mn-ea"/>
              </a:rPr>
              <a:t>、</a:t>
            </a:r>
            <a:r>
              <a:rPr sz="1350" b="1" dirty="0">
                <a:latin typeface="宋体" panose="02010600030101010101" pitchFamily="2" charset="-122"/>
                <a:sym typeface="+mn-ea"/>
              </a:rPr>
              <a:t>申请单来源类型}：</a:t>
            </a:r>
            <a:r>
              <a:rPr lang="zh-CN" altLang="en-US" sz="1350" dirty="0">
                <a:latin typeface="宋体" panose="02010600030101010101" pitchFamily="2" charset="-122"/>
                <a:sym typeface="+mn-ea"/>
              </a:rPr>
              <a:t>记录该采购订货单是来源什么单据、什么单号的。（如：销售订货单，补料单等）</a:t>
            </a:r>
            <a:endParaRPr sz="1350" noProof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" y="1715770"/>
            <a:ext cx="8900795" cy="5040630"/>
          </a:xfrm>
          <a:prstGeom prst="rect">
            <a:avLst/>
          </a:prstGeom>
        </p:spPr>
      </p:pic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2" y="-1984"/>
            <a:ext cx="1897752" cy="673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" name="TextBox 22"/>
          <p:cNvSpPr txBox="1"/>
          <p:nvPr/>
        </p:nvSpPr>
        <p:spPr>
          <a:xfrm>
            <a:off x="2736214" y="141605"/>
            <a:ext cx="49321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采购管理</a:t>
            </a: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-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采购订货单</a:t>
            </a:r>
            <a:endParaRPr lang="zh-CN" altLang="en-US" sz="28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0" y="705396"/>
            <a:ext cx="9144000" cy="4009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01" name="文本框 1"/>
          <p:cNvSpPr txBox="1"/>
          <p:nvPr/>
        </p:nvSpPr>
        <p:spPr>
          <a:xfrm>
            <a:off x="0" y="766445"/>
            <a:ext cx="9134475" cy="33718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1600" b="1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采购费用页版用途：</a:t>
            </a:r>
            <a:r>
              <a:rPr lang="zh-CN" altLang="en-US" sz="16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输入需要向供应商支付的其他费用。（如：小缸费、染色费等）</a:t>
            </a:r>
            <a:endParaRPr lang="zh-CN" altLang="en-US" sz="1600" b="1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8" name="文本框 1"/>
          <p:cNvSpPr txBox="1"/>
          <p:nvPr/>
        </p:nvSpPr>
        <p:spPr>
          <a:xfrm>
            <a:off x="19685" y="1103630"/>
            <a:ext cx="9124315" cy="33718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1600" b="1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采购费用页版操作方法如下：</a:t>
            </a:r>
            <a:endParaRPr lang="en-US" altLang="zh-CN" sz="1600" dirty="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0" name="文本框 1"/>
          <p:cNvSpPr txBox="1"/>
          <p:nvPr/>
        </p:nvSpPr>
        <p:spPr>
          <a:xfrm>
            <a:off x="9525" y="1370330"/>
            <a:ext cx="9124315" cy="27559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第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1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步：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1.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点采购费用页版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2.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点插入行→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3.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输入费用名称、费用金额→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4.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点保存即输入完成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。</a:t>
            </a:r>
            <a:endParaRPr lang="en-US" altLang="zh-CN" sz="1200" dirty="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6" name="矩形标注 15"/>
          <p:cNvSpPr/>
          <p:nvPr/>
        </p:nvSpPr>
        <p:spPr>
          <a:xfrm>
            <a:off x="1541780" y="6570980"/>
            <a:ext cx="1457325" cy="236220"/>
          </a:xfrm>
          <a:prstGeom prst="wedgeRectCallout">
            <a:avLst>
              <a:gd name="adj1" fmla="val -77058"/>
              <a:gd name="adj2" fmla="val -16397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1.</a:t>
            </a:r>
            <a:r>
              <a:rPr lang="zh-CN" altLang="en-US" sz="1200" strike="noStrike" noProof="1">
                <a:solidFill>
                  <a:schemeClr val="tx1"/>
                </a:solidFill>
              </a:rPr>
              <a:t>点采购费用页版</a:t>
            </a:r>
            <a:endParaRPr lang="zh-CN" altLang="en-US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59765" y="6569710"/>
            <a:ext cx="492125" cy="186690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标注 6"/>
          <p:cNvSpPr/>
          <p:nvPr/>
        </p:nvSpPr>
        <p:spPr>
          <a:xfrm>
            <a:off x="2177415" y="2030730"/>
            <a:ext cx="956310" cy="236220"/>
          </a:xfrm>
          <a:prstGeom prst="wedgeRectCallout">
            <a:avLst>
              <a:gd name="adj1" fmla="val 142031"/>
              <a:gd name="adj2" fmla="val 85752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2.</a:t>
            </a:r>
            <a:r>
              <a:rPr lang="zh-CN" altLang="en-US" sz="1200" strike="noStrike" noProof="1">
                <a:solidFill>
                  <a:schemeClr val="tx1"/>
                </a:solidFill>
              </a:rPr>
              <a:t>点插入行</a:t>
            </a:r>
            <a:endParaRPr lang="zh-CN" altLang="en-US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9" name="矩形标注 8"/>
          <p:cNvSpPr/>
          <p:nvPr/>
        </p:nvSpPr>
        <p:spPr>
          <a:xfrm>
            <a:off x="2669540" y="3669030"/>
            <a:ext cx="2063115" cy="236220"/>
          </a:xfrm>
          <a:prstGeom prst="wedgeRectCallout">
            <a:avLst>
              <a:gd name="adj1" fmla="val -76121"/>
              <a:gd name="adj2" fmla="val 36827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3.</a:t>
            </a:r>
            <a:r>
              <a:rPr lang="zh-CN" altLang="en-US" sz="1200" strike="noStrike" noProof="1">
                <a:solidFill>
                  <a:schemeClr val="tx1"/>
                </a:solidFill>
              </a:rPr>
              <a:t>输入费用名称、费用金额</a:t>
            </a:r>
            <a:endParaRPr lang="zh-CN" altLang="en-US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1" name="矩形标注 10"/>
          <p:cNvSpPr/>
          <p:nvPr/>
        </p:nvSpPr>
        <p:spPr>
          <a:xfrm>
            <a:off x="5413375" y="2057400"/>
            <a:ext cx="893445" cy="236220"/>
          </a:xfrm>
          <a:prstGeom prst="wedgeRectCallout">
            <a:avLst>
              <a:gd name="adj1" fmla="val -69189"/>
              <a:gd name="adj2" fmla="val 85752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4.</a:t>
            </a:r>
            <a:r>
              <a:rPr lang="zh-CN" altLang="en-US" sz="1200" strike="noStrike" noProof="1">
                <a:solidFill>
                  <a:schemeClr val="tx1"/>
                </a:solidFill>
              </a:rPr>
              <a:t>点保存</a:t>
            </a:r>
            <a:endParaRPr lang="zh-CN" altLang="en-US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034155" y="2258060"/>
            <a:ext cx="421640" cy="186690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294005" y="3777615"/>
            <a:ext cx="1882775" cy="19621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4836160" y="2258060"/>
            <a:ext cx="421640" cy="186690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391" name="文本框 20"/>
          <p:cNvSpPr txBox="1"/>
          <p:nvPr/>
        </p:nvSpPr>
        <p:spPr>
          <a:xfrm>
            <a:off x="116205" y="5728335"/>
            <a:ext cx="8911590" cy="81470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>
            <a:spAutoFit/>
          </a:bodyPr>
          <a:p>
            <a:pPr algn="l"/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小窍门：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1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★</a:t>
            </a:r>
            <a:r>
              <a:rPr lang="zh-CN" altLang="en-US" sz="1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采购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订货单做了财务审核后，订单费用自动生成应付立账单。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、费用名称：用于除材料外的</a:t>
            </a:r>
            <a:r>
              <a:rPr lang="zh-CN" altLang="en-US" sz="11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其他费用。（如：小缸费、染色费等）。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来源于【基础资料】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【费用科目】里的资料。当在此选择不到费用明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   细，需要到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【费用科目】里增加。</a:t>
            </a:r>
            <a:endParaRPr lang="en-US" altLang="zh-CN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63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ldLvl="0" animBg="1"/>
      <p:bldP spid="4" grpId="0" animBg="1"/>
      <p:bldP spid="7" grpId="0" animBg="1"/>
      <p:bldP spid="12" grpId="0" animBg="1"/>
      <p:bldP spid="13" grpId="0" animBg="1"/>
      <p:bldP spid="9" grpId="0" animBg="1"/>
      <p:bldP spid="14" grpId="0" animBg="1"/>
      <p:bldP spid="11" grpId="0" animBg="1"/>
      <p:bldP spid="1639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70" y="1631950"/>
            <a:ext cx="8963660" cy="515429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3660" y="149860"/>
            <a:ext cx="90487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noProof="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sym typeface="+mn-ea"/>
              </a:rPr>
              <a:t>采购管理</a:t>
            </a:r>
            <a:r>
              <a:rPr lang="en-US" altLang="zh-CN" sz="2800" b="1" dirty="0" smtClean="0">
                <a:solidFill>
                  <a:schemeClr val="accent6">
                    <a:lumMod val="75000"/>
                  </a:schemeClr>
                </a:solidFill>
                <a:sym typeface="+mn-ea"/>
              </a:rPr>
              <a:t>-</a:t>
            </a:r>
            <a:r>
              <a:rPr lang="zh-CN" altLang="en-US" sz="2800" b="1" dirty="0" smtClean="0">
                <a:solidFill>
                  <a:schemeClr val="accent6">
                    <a:lumMod val="75000"/>
                  </a:schemeClr>
                </a:solidFill>
                <a:sym typeface="+mn-ea"/>
              </a:rPr>
              <a:t>采购订货单</a:t>
            </a:r>
            <a:endParaRPr lang="zh-CN" altLang="en-US" sz="2800" b="1" dirty="0" smtClean="0">
              <a:solidFill>
                <a:schemeClr val="accent6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0" y="705396"/>
            <a:ext cx="9144000" cy="4009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2" y="-1984"/>
            <a:ext cx="1897752" cy="673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100" name="文本框 1"/>
          <p:cNvSpPr txBox="1"/>
          <p:nvPr/>
        </p:nvSpPr>
        <p:spPr>
          <a:xfrm>
            <a:off x="-3810" y="746125"/>
            <a:ext cx="912495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2400" b="1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入仓明细页版</a:t>
            </a:r>
            <a:r>
              <a:rPr lang="zh-CN" altLang="en-US" sz="2400" b="1" dirty="0">
                <a:latin typeface="Calibri" panose="020F0502020204030204" charset="0"/>
                <a:ea typeface="宋体" panose="02010600030101010101" pitchFamily="2" charset="-122"/>
              </a:rPr>
              <a:t>用途：</a:t>
            </a:r>
            <a:r>
              <a:rPr lang="zh-CN" altLang="en-US" sz="1400" dirty="0">
                <a:latin typeface="Calibri" panose="020F0502020204030204" charset="0"/>
                <a:ea typeface="宋体" panose="02010600030101010101" pitchFamily="2" charset="-122"/>
              </a:rPr>
              <a:t>快速查看采购订货单物料的入仓明细。</a:t>
            </a:r>
            <a:endParaRPr lang="zh-CN" altLang="en-US" sz="1400" dirty="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101" name="文本框 1"/>
          <p:cNvSpPr txBox="1"/>
          <p:nvPr/>
        </p:nvSpPr>
        <p:spPr>
          <a:xfrm>
            <a:off x="10160" y="1112520"/>
            <a:ext cx="8917940" cy="33718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1600" b="1" dirty="0">
                <a:latin typeface="Calibri" panose="020F0502020204030204" charset="0"/>
                <a:ea typeface="宋体" panose="02010600030101010101" pitchFamily="2" charset="-122"/>
              </a:rPr>
              <a:t>操作方法如下：</a:t>
            </a:r>
            <a:endParaRPr lang="zh-CN" altLang="en-US" sz="1600" b="1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4102" name="文本框 1"/>
          <p:cNvSpPr txBox="1"/>
          <p:nvPr/>
        </p:nvSpPr>
        <p:spPr>
          <a:xfrm>
            <a:off x="-3175" y="1356360"/>
            <a:ext cx="9124315" cy="27559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第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1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步：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1.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点入仓明细页版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。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      </a:t>
            </a:r>
            <a:endParaRPr lang="zh-CN" altLang="en-US" sz="1200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5" name="文本框 20"/>
          <p:cNvSpPr txBox="1"/>
          <p:nvPr/>
        </p:nvSpPr>
        <p:spPr>
          <a:xfrm>
            <a:off x="167640" y="5576570"/>
            <a:ext cx="8806815" cy="81470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>
            <a:spAutoFit/>
          </a:bodyPr>
          <a:p>
            <a:pPr algn="l"/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小窍门：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、在此页版显示的数据说明已经做过入仓单。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、可以快速查看这张采购订货单的物料是在哪家供应商买的、入仓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日期等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、双击入仓单号系统会自动跳转到对应的入仓单中，方便查看明细。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矩形标注 12"/>
          <p:cNvSpPr/>
          <p:nvPr/>
        </p:nvSpPr>
        <p:spPr>
          <a:xfrm>
            <a:off x="2437130" y="6523355"/>
            <a:ext cx="1493520" cy="262890"/>
          </a:xfrm>
          <a:prstGeom prst="wedgeRectCallout">
            <a:avLst>
              <a:gd name="adj1" fmla="val -110214"/>
              <a:gd name="adj2" fmla="val 18840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1.</a:t>
            </a:r>
            <a:r>
              <a:rPr lang="zh-CN" altLang="en-US" sz="1200" strike="noStrike" noProof="1">
                <a:solidFill>
                  <a:schemeClr val="tx1"/>
                </a:solidFill>
              </a:rPr>
              <a:t>点入仓明细页版</a:t>
            </a:r>
            <a:endParaRPr lang="zh-CN" altLang="en-US" sz="1200" strike="noStrike" noProof="1">
              <a:solidFill>
                <a:schemeClr val="tx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057275" y="6584950"/>
            <a:ext cx="416560" cy="20129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ldLvl="0" animBg="1"/>
      <p:bldP spid="13" grpId="0" bldLvl="0" animBg="1"/>
      <p:bldP spid="15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" y="1974850"/>
            <a:ext cx="8905240" cy="466661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3660" y="149860"/>
            <a:ext cx="90487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noProof="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sym typeface="+mn-ea"/>
              </a:rPr>
              <a:t>采购管理</a:t>
            </a:r>
            <a:r>
              <a:rPr lang="en-US" altLang="zh-CN" sz="2800" b="1" dirty="0" smtClean="0">
                <a:solidFill>
                  <a:schemeClr val="accent6">
                    <a:lumMod val="75000"/>
                  </a:schemeClr>
                </a:solidFill>
                <a:sym typeface="+mn-ea"/>
              </a:rPr>
              <a:t>-</a:t>
            </a:r>
            <a:r>
              <a:rPr lang="zh-CN" altLang="en-US" sz="2800" b="1" dirty="0" smtClean="0">
                <a:solidFill>
                  <a:schemeClr val="accent6">
                    <a:lumMod val="75000"/>
                  </a:schemeClr>
                </a:solidFill>
                <a:sym typeface="+mn-ea"/>
              </a:rPr>
              <a:t>采购订货单</a:t>
            </a:r>
            <a:endParaRPr lang="zh-CN" altLang="en-US" sz="2800" b="1" dirty="0" smtClean="0">
              <a:solidFill>
                <a:schemeClr val="accent6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0" y="705396"/>
            <a:ext cx="9144000" cy="4009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2" y="-1984"/>
            <a:ext cx="1897752" cy="673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矩形 19"/>
          <p:cNvSpPr/>
          <p:nvPr/>
        </p:nvSpPr>
        <p:spPr>
          <a:xfrm>
            <a:off x="102870" y="2861945"/>
            <a:ext cx="756285" cy="129540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219075" y="3272155"/>
            <a:ext cx="640080" cy="127000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00" name="文本框 1"/>
          <p:cNvSpPr txBox="1"/>
          <p:nvPr/>
        </p:nvSpPr>
        <p:spPr>
          <a:xfrm>
            <a:off x="-3810" y="746125"/>
            <a:ext cx="9124950" cy="67564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2400" b="1" dirty="0">
                <a:latin typeface="Calibri" panose="020F0502020204030204" charset="0"/>
                <a:ea typeface="宋体" panose="02010600030101010101" pitchFamily="2" charset="-122"/>
              </a:rPr>
              <a:t>采购订货单用途：</a:t>
            </a:r>
            <a:r>
              <a:rPr lang="zh-CN" altLang="en-US" sz="14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严格控制订单需要购买的材料（</a:t>
            </a:r>
            <a:r>
              <a:rPr lang="zh-CN" altLang="en-US" sz="1400" dirty="0" smtClean="0">
                <a:sym typeface="+mn-ea"/>
              </a:rPr>
              <a:t>买多少物料、到哪里买、多少资金预算，预算交期</a:t>
            </a:r>
            <a:endParaRPr lang="zh-CN" altLang="en-US" sz="1400" dirty="0" smtClean="0">
              <a:sym typeface="+mn-ea"/>
            </a:endParaRPr>
          </a:p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1400" dirty="0" smtClean="0">
                <a:sym typeface="+mn-ea"/>
              </a:rPr>
              <a:t> ）。通俗：批数量、批供应商、 批单价、批交期。</a:t>
            </a:r>
            <a:r>
              <a:rPr lang="zh-CN" altLang="en-US" sz="1400" dirty="0">
                <a:sym typeface="+mn-ea"/>
              </a:rPr>
              <a:t>。</a:t>
            </a:r>
            <a:endParaRPr lang="zh-CN" altLang="en-US" sz="1400" dirty="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101" name="文本框 1"/>
          <p:cNvSpPr txBox="1"/>
          <p:nvPr/>
        </p:nvSpPr>
        <p:spPr>
          <a:xfrm>
            <a:off x="12065" y="1353185"/>
            <a:ext cx="8917940" cy="33718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1600" b="1" dirty="0">
                <a:latin typeface="Calibri" panose="020F0502020204030204" charset="0"/>
                <a:ea typeface="宋体" panose="02010600030101010101" pitchFamily="2" charset="-122"/>
              </a:rPr>
              <a:t>方法</a:t>
            </a:r>
            <a:r>
              <a:rPr lang="en-US" altLang="zh-CN" sz="1600" b="1" dirty="0">
                <a:latin typeface="Calibri" panose="020F0502020204030204" charset="0"/>
                <a:ea typeface="宋体" panose="02010600030101010101" pitchFamily="2" charset="-122"/>
              </a:rPr>
              <a:t>2</a:t>
            </a:r>
            <a:r>
              <a:rPr lang="zh-CN" altLang="en-US" sz="1600" b="1" dirty="0">
                <a:latin typeface="Calibri" panose="020F0502020204030204" charset="0"/>
                <a:ea typeface="宋体" panose="02010600030101010101" pitchFamily="2" charset="-122"/>
              </a:rPr>
              <a:t>（无来源单据：手工输入）操作方法如下：</a:t>
            </a:r>
            <a:endParaRPr lang="zh-CN" altLang="en-US" sz="1600" b="1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4102" name="文本框 1"/>
          <p:cNvSpPr txBox="1"/>
          <p:nvPr/>
        </p:nvSpPr>
        <p:spPr>
          <a:xfrm>
            <a:off x="-2540" y="1690370"/>
            <a:ext cx="9124315" cy="27559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第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1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步：通过主菜单→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1.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点【 采购管理】→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2.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【采购订货单】。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                    </a:t>
            </a:r>
            <a:endParaRPr lang="zh-CN" altLang="en-US" sz="1200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7" name="矩形标注 6"/>
          <p:cNvSpPr/>
          <p:nvPr/>
        </p:nvSpPr>
        <p:spPr>
          <a:xfrm>
            <a:off x="1586865" y="3399790"/>
            <a:ext cx="1352550" cy="360680"/>
          </a:xfrm>
          <a:prstGeom prst="wedgeRectCallout">
            <a:avLst>
              <a:gd name="adj1" fmla="val -102629"/>
              <a:gd name="adj2" fmla="val -73767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2.</a:t>
            </a:r>
            <a:r>
              <a:rPr lang="zh-CN" altLang="en-US" sz="1200" strike="noStrike" noProof="1">
                <a:solidFill>
                  <a:schemeClr val="tx1"/>
                </a:solidFill>
              </a:rPr>
              <a:t>点采购订货单</a:t>
            </a:r>
            <a:endParaRPr lang="zh-CN" altLang="zh-CN" sz="1200" strike="noStrike" noProof="1">
              <a:solidFill>
                <a:schemeClr val="tx1"/>
              </a:solidFill>
            </a:endParaRPr>
          </a:p>
        </p:txBody>
      </p:sp>
      <p:sp>
        <p:nvSpPr>
          <p:cNvPr id="3" name="矩形标注 2"/>
          <p:cNvSpPr/>
          <p:nvPr/>
        </p:nvSpPr>
        <p:spPr>
          <a:xfrm>
            <a:off x="1659890" y="2399665"/>
            <a:ext cx="1144905" cy="335280"/>
          </a:xfrm>
          <a:prstGeom prst="wedgeRectCallout">
            <a:avLst>
              <a:gd name="adj1" fmla="val -120493"/>
              <a:gd name="adj2" fmla="val 108143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1.</a:t>
            </a:r>
            <a:r>
              <a:rPr lang="zh-CN" altLang="en-US" sz="1200" strike="noStrike" noProof="1">
                <a:solidFill>
                  <a:schemeClr val="tx1"/>
                </a:solidFill>
              </a:rPr>
              <a:t>点采购管理</a:t>
            </a:r>
            <a:endParaRPr lang="zh-CN" altLang="en-US" sz="1200" strike="noStrike" noProof="1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ldLvl="0" animBg="1"/>
      <p:bldP spid="3" grpId="0" bldLvl="0" animBg="1"/>
      <p:bldP spid="30" grpId="0" bldLvl="0" animBg="1"/>
      <p:bldP spid="7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" y="1434465"/>
            <a:ext cx="8949690" cy="544957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736214" y="141605"/>
            <a:ext cx="49321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采购管理</a:t>
            </a: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-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采购订货单</a:t>
            </a:r>
            <a:endParaRPr lang="zh-CN" altLang="en-US" sz="28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0" y="705396"/>
            <a:ext cx="9144000" cy="4009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2" y="-1984"/>
            <a:ext cx="1897752" cy="673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3810" y="734060"/>
            <a:ext cx="9139555" cy="810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第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2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步：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1.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在主表内输入相关信息（供应商、交货日期等）→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2.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点插入行→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3.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在子表内输入相关信息（物料名称：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双击物料名称，在弹出框中找到需要订购物料，如果没有，则需要新增物料。详见物料资料说明。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采购单价、数量等）→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4.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点保存→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5.点审核（审核权限参考权限表）。</a:t>
            </a:r>
            <a:endParaRPr lang="en-US" altLang="zh-CN" sz="1200" dirty="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57505" y="2259965"/>
            <a:ext cx="8628380" cy="50355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标注 6"/>
          <p:cNvSpPr/>
          <p:nvPr/>
        </p:nvSpPr>
        <p:spPr>
          <a:xfrm>
            <a:off x="5873750" y="1770380"/>
            <a:ext cx="885825" cy="289560"/>
          </a:xfrm>
          <a:prstGeom prst="wedgeRectCallout">
            <a:avLst>
              <a:gd name="adj1" fmla="val -79723"/>
              <a:gd name="adj2" fmla="val 80250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5.</a:t>
            </a:r>
            <a:r>
              <a:rPr lang="zh-CN" altLang="en-US" sz="1200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点审核</a:t>
            </a:r>
            <a:endParaRPr lang="zh-CN" altLang="en-US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0" name="矩形标注 9"/>
          <p:cNvSpPr/>
          <p:nvPr/>
        </p:nvSpPr>
        <p:spPr>
          <a:xfrm>
            <a:off x="258445" y="1504315"/>
            <a:ext cx="3497580" cy="230505"/>
          </a:xfrm>
          <a:prstGeom prst="wedgeRectCallout">
            <a:avLst>
              <a:gd name="adj1" fmla="val -45896"/>
              <a:gd name="adj2" fmla="val 289944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1.</a:t>
            </a:r>
            <a:r>
              <a:rPr lang="zh-CN" altLang="en-US" sz="1200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在主表内输入相关信息（供应商、交货日期等）</a:t>
            </a:r>
            <a:endParaRPr lang="zh-CN" altLang="en-US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1" name="矩形标注 10"/>
          <p:cNvSpPr/>
          <p:nvPr/>
        </p:nvSpPr>
        <p:spPr>
          <a:xfrm>
            <a:off x="5041265" y="1504315"/>
            <a:ext cx="832485" cy="230505"/>
          </a:xfrm>
          <a:prstGeom prst="wedgeRectCallout">
            <a:avLst>
              <a:gd name="adj1" fmla="val -69298"/>
              <a:gd name="adj2" fmla="val 176446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4.</a:t>
            </a:r>
            <a:r>
              <a:rPr lang="zh-CN" altLang="en-US" sz="1200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点保存</a:t>
            </a:r>
            <a:endParaRPr lang="en-US" altLang="zh-CN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832350" y="2033270"/>
            <a:ext cx="333375" cy="15684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197475" y="2032635"/>
            <a:ext cx="395605" cy="157480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标注 3"/>
          <p:cNvSpPr/>
          <p:nvPr/>
        </p:nvSpPr>
        <p:spPr>
          <a:xfrm>
            <a:off x="3871595" y="1508125"/>
            <a:ext cx="1029970" cy="226695"/>
          </a:xfrm>
          <a:prstGeom prst="wedgeRectCallout">
            <a:avLst>
              <a:gd name="adj1" fmla="val 924"/>
              <a:gd name="adj2" fmla="val 177450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2.</a:t>
            </a:r>
            <a:r>
              <a:rPr lang="zh-CN" altLang="en-US" sz="1200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点插入行</a:t>
            </a:r>
            <a:endParaRPr lang="en-US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8" name="矩形标注 7"/>
          <p:cNvSpPr/>
          <p:nvPr/>
        </p:nvSpPr>
        <p:spPr>
          <a:xfrm>
            <a:off x="2000250" y="3908425"/>
            <a:ext cx="5866765" cy="229235"/>
          </a:xfrm>
          <a:prstGeom prst="wedgeRectCallout">
            <a:avLst>
              <a:gd name="adj1" fmla="val -32580"/>
              <a:gd name="adj2" fmla="val -91549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3.</a:t>
            </a:r>
            <a:r>
              <a:rPr lang="zh-CN" altLang="en-US" sz="1200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在子表内输入相关信息（物料名称、采购单价、数量等）</a:t>
            </a:r>
            <a:endParaRPr lang="zh-CN" altLang="en-US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93845" y="2033270"/>
            <a:ext cx="414020" cy="16446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57505" y="3440430"/>
            <a:ext cx="8628380" cy="35242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20"/>
          <p:cNvSpPr txBox="1"/>
          <p:nvPr/>
        </p:nvSpPr>
        <p:spPr>
          <a:xfrm>
            <a:off x="134620" y="4191635"/>
            <a:ext cx="8806815" cy="267652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>
            <a:spAutoFit/>
          </a:bodyPr>
          <a:p>
            <a:pPr algn="l"/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小窍门：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1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★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物料名称：双击物料名称，在弹出框中找到需要订购的物料。如果没有，需要新增物料。详见物料资料说明。</a:t>
            </a:r>
            <a:endParaRPr lang="en-US" altLang="zh-CN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、交货方式、交货地址、币种、税率、扣税类型、结算方式：在供应商资料里设定后，会自动带出，可手工修改。</a:t>
            </a:r>
            <a:endParaRPr lang="en-US" altLang="zh-CN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、定金、现金账户、银行账户：当需要付定金时输入，财务审核后，会产生对应的预付款，财务做付款单时，可用定金冲账。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、报表序号：选择不同格式的报表打印。</a:t>
            </a:r>
            <a:endParaRPr lang="en-US" altLang="zh-CN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、双击订单号可以关联销售订货单。</a:t>
            </a:r>
            <a:endParaRPr lang="en-US" altLang="zh-CN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、数量、单价：默认带出采购申请单输入的首次批准数量和批准单价，可手工修改。当单价超过设定的单价时，系统会提示用特权密码审核通过，同时系统也会记录使用特权密码的通过的次数和金额。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、允许超收数量、允许超收比例：用于控制供应商多送物料。默认带出物料分类中设定数值，可手工修改。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7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、交货日期：当同一张采购订货单内的物料有不同交期时，才需使用。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、回复交期、回复原因：供应商回复的实际交期及原因说明。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、报价单价：报价单价来源于【产品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BOM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】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【报价资料】页版输入的物料报价单价，系统可设置采购单价不允许超过报价单价。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最高采购单价、最低采购单价：系统自动记录物料的最低采购单价与最高采购单价，系统可设置采购单价不允许超过最高采购单价。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11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、单价：双击单价可以看到历史采购单价。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12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、采购结算单位、采购结算单位系数：在【物料供应商资料】中设定后，会自动带入，可手工修改。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6" grpId="0" bldLvl="0" animBg="1"/>
      <p:bldP spid="4" grpId="0" bldLvl="0" animBg="1"/>
      <p:bldP spid="9" grpId="0" bldLvl="0" animBg="1"/>
      <p:bldP spid="8" grpId="0" bldLvl="0" animBg="1"/>
      <p:bldP spid="14" grpId="0" bldLvl="0" animBg="1"/>
      <p:bldP spid="12" grpId="0" bldLvl="0" animBg="1"/>
      <p:bldP spid="11" grpId="0" bldLvl="0" animBg="1"/>
      <p:bldP spid="13" grpId="0" bldLvl="0" animBg="1"/>
      <p:bldP spid="7" grpId="0" bldLvl="0" animBg="1"/>
      <p:bldP spid="17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0" y="1355725"/>
            <a:ext cx="9041130" cy="5428615"/>
          </a:xfrm>
          <a:prstGeom prst="rect">
            <a:avLst/>
          </a:prstGeom>
        </p:spPr>
      </p:pic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2" y="-1984"/>
            <a:ext cx="1897752" cy="673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" name="TextBox 22"/>
          <p:cNvSpPr txBox="1"/>
          <p:nvPr/>
        </p:nvSpPr>
        <p:spPr>
          <a:xfrm>
            <a:off x="2736214" y="141605"/>
            <a:ext cx="49321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zh-CN" sz="2800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采购管理</a:t>
            </a: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-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采购订货单</a:t>
            </a:r>
            <a:endParaRPr lang="zh-CN" altLang="en-US" sz="28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0" y="705396"/>
            <a:ext cx="9144000" cy="4009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9695" y="772160"/>
            <a:ext cx="89014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采购订货单打印报表操作：</a:t>
            </a:r>
            <a:endParaRPr lang="zh-CN" altLang="en-US" sz="1200" dirty="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  <a:p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第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步：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1.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点报表→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2.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选中所需打印的表格→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3.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点打开或保存→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5.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点确定（系统自动将数据写入到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EXCEL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中打印）。</a:t>
            </a:r>
            <a:endParaRPr lang="zh-CN" altLang="en-US" sz="1200" dirty="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3" name="矩形标注 12"/>
          <p:cNvSpPr/>
          <p:nvPr/>
        </p:nvSpPr>
        <p:spPr>
          <a:xfrm>
            <a:off x="1295400" y="1614805"/>
            <a:ext cx="822325" cy="247015"/>
          </a:xfrm>
          <a:prstGeom prst="wedgeRectCallout">
            <a:avLst>
              <a:gd name="adj1" fmla="val -85366"/>
              <a:gd name="adj2" fmla="val 103984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1.</a:t>
            </a:r>
            <a:r>
              <a:rPr lang="zh-CN" altLang="en-US" sz="1200" strike="noStrike" noProof="1">
                <a:solidFill>
                  <a:schemeClr val="tx1"/>
                </a:solidFill>
              </a:rPr>
              <a:t>点报表</a:t>
            </a:r>
            <a:endParaRPr lang="en-US" altLang="zh-CN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5" name="矩形标注 14"/>
          <p:cNvSpPr/>
          <p:nvPr/>
        </p:nvSpPr>
        <p:spPr>
          <a:xfrm>
            <a:off x="1744345" y="2297430"/>
            <a:ext cx="1045845" cy="437515"/>
          </a:xfrm>
          <a:prstGeom prst="wedgeRectCallout">
            <a:avLst>
              <a:gd name="adj1" fmla="val -61778"/>
              <a:gd name="adj2" fmla="val 86865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2.</a:t>
            </a:r>
            <a:r>
              <a:rPr lang="zh-CN" altLang="en-US" sz="1200" strike="noStrike" noProof="1">
                <a:solidFill>
                  <a:schemeClr val="tx1"/>
                </a:solidFill>
              </a:rPr>
              <a:t>选中需打印的表格</a:t>
            </a:r>
            <a:endParaRPr lang="zh-CN" altLang="en-US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80390" y="1971675"/>
            <a:ext cx="436245" cy="14160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0"/>
          <p:cNvSpPr txBox="1"/>
          <p:nvPr/>
        </p:nvSpPr>
        <p:spPr>
          <a:xfrm>
            <a:off x="99695" y="5580380"/>
            <a:ext cx="8902065" cy="98361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小窍门：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、采购订货单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采购订货单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、采购订货单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4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、采购订货单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（通用明细版）、采购订货单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7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（通用不含汇总）：按物料明细显示报表。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、采购订货单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：按物料汇总显示报表。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、采购订货单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5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、采购订货单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6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、采购订货单（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MH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）、采购订货单（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CH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）：有物料明细和汇总数据。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4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、培训老师协助选择适合客户的报表</a:t>
            </a:r>
            <a:r>
              <a:rPr lang="zh-CN" sz="1100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390" y="2148205"/>
            <a:ext cx="1018540" cy="1400810"/>
          </a:xfrm>
          <a:prstGeom prst="rect">
            <a:avLst/>
          </a:prstGeom>
        </p:spPr>
      </p:pic>
      <p:sp>
        <p:nvSpPr>
          <p:cNvPr id="27" name="矩形 26"/>
          <p:cNvSpPr/>
          <p:nvPr/>
        </p:nvSpPr>
        <p:spPr>
          <a:xfrm>
            <a:off x="580390" y="2148205"/>
            <a:ext cx="1017905" cy="140017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500" y="2297430"/>
            <a:ext cx="3385820" cy="2445385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3460115" y="3566160"/>
            <a:ext cx="2952115" cy="375920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矩形标注 20"/>
          <p:cNvSpPr/>
          <p:nvPr/>
        </p:nvSpPr>
        <p:spPr>
          <a:xfrm>
            <a:off x="4777105" y="3193415"/>
            <a:ext cx="1508760" cy="259080"/>
          </a:xfrm>
          <a:prstGeom prst="wedgeRectCallout">
            <a:avLst>
              <a:gd name="adj1" fmla="val -55768"/>
              <a:gd name="adj2" fmla="val 86865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3.</a:t>
            </a:r>
            <a:r>
              <a:rPr lang="zh-CN" altLang="en-US" sz="1200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点打开或保存</a:t>
            </a:r>
            <a:endParaRPr lang="zh-CN" altLang="en-US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227955" y="4369435"/>
            <a:ext cx="619125" cy="25717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标注 21"/>
          <p:cNvSpPr/>
          <p:nvPr/>
        </p:nvSpPr>
        <p:spPr>
          <a:xfrm>
            <a:off x="6097905" y="4110355"/>
            <a:ext cx="855345" cy="259080"/>
          </a:xfrm>
          <a:prstGeom prst="wedgeRectCallout">
            <a:avLst>
              <a:gd name="adj1" fmla="val -82887"/>
              <a:gd name="adj2" fmla="val 73039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4.</a:t>
            </a:r>
            <a:r>
              <a:rPr lang="zh-CN" altLang="en-US" sz="1200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点确定</a:t>
            </a:r>
            <a:endParaRPr lang="zh-CN" altLang="en-US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3" grpId="0" animBg="1"/>
      <p:bldP spid="27" grpId="0" animBg="1"/>
      <p:bldP spid="15" grpId="0" animBg="1"/>
      <p:bldP spid="19" grpId="0" animBg="1"/>
      <p:bldP spid="21" grpId="0" animBg="1"/>
      <p:bldP spid="20" grpId="0" animBg="1"/>
      <p:bldP spid="22" grpId="0" animBg="1"/>
      <p:bldP spid="25" grpId="0" bldLvl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4757</Words>
  <Application>WPS 演示</Application>
  <PresentationFormat>全屏显示(4:3)</PresentationFormat>
  <Paragraphs>224</Paragraphs>
  <Slides>12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Arial</vt:lpstr>
      <vt:lpstr>宋体</vt:lpstr>
      <vt:lpstr>Wingdings</vt:lpstr>
      <vt:lpstr>Calibri</vt:lpstr>
      <vt:lpstr>微软雅黑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398</cp:revision>
  <dcterms:created xsi:type="dcterms:W3CDTF">2017-04-15T06:05:00Z</dcterms:created>
  <dcterms:modified xsi:type="dcterms:W3CDTF">2019-01-25T06:20:29Z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2052-11.1.0.8214</vt:lpwstr>
  </property>
  <property fmtid="{D5CDD505-2E9C-101B-9397-08002B2CF9AE}" pid="3" name="KSORubyTemplateID">
    <vt:lpwstr>13</vt:lpwstr>
  </property>
</Properties>
</file>